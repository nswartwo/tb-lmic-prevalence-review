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9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E3EBA-A4D7-A64B-BD91-757387DEA903}" v="2" dt="2025-03-06T16:46:37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386"/>
    <p:restoredTop sz="96512"/>
  </p:normalViewPr>
  <p:slideViewPr>
    <p:cSldViewPr snapToGrid="0">
      <p:cViewPr varScale="1">
        <p:scale>
          <a:sx n="87" d="100"/>
          <a:sy n="87" d="100"/>
        </p:scale>
        <p:origin x="2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rtwood, Nicole Anne" userId="77c21839-1b05-494c-87f1-350bb9c0dce4" providerId="ADAL" clId="{A5F28E43-FFCC-BD45-B690-A93F0CE3A10D}"/>
    <pc:docChg chg="delSld modSld">
      <pc:chgData name="Swartwood, Nicole Anne" userId="77c21839-1b05-494c-87f1-350bb9c0dce4" providerId="ADAL" clId="{A5F28E43-FFCC-BD45-B690-A93F0CE3A10D}" dt="2025-03-06T18:36:23.267" v="26" actId="20577"/>
      <pc:docMkLst>
        <pc:docMk/>
      </pc:docMkLst>
      <pc:sldChg chg="modSp mod">
        <pc:chgData name="Swartwood, Nicole Anne" userId="77c21839-1b05-494c-87f1-350bb9c0dce4" providerId="ADAL" clId="{A5F28E43-FFCC-BD45-B690-A93F0CE3A10D}" dt="2025-03-06T18:36:23.267" v="26" actId="20577"/>
        <pc:sldMkLst>
          <pc:docMk/>
          <pc:sldMk cId="1354996971" sldId="257"/>
        </pc:sldMkLst>
        <pc:spChg chg="mod">
          <ac:chgData name="Swartwood, Nicole Anne" userId="77c21839-1b05-494c-87f1-350bb9c0dce4" providerId="ADAL" clId="{A5F28E43-FFCC-BD45-B690-A93F0CE3A10D}" dt="2025-03-06T18:36:23.267" v="26" actId="20577"/>
          <ac:spMkLst>
            <pc:docMk/>
            <pc:sldMk cId="1354996971" sldId="257"/>
            <ac:spMk id="37" creationId="{7A092CFF-77FD-901D-D9A1-B0E8577F875A}"/>
          </ac:spMkLst>
        </pc:spChg>
      </pc:sldChg>
      <pc:sldChg chg="del">
        <pc:chgData name="Swartwood, Nicole Anne" userId="77c21839-1b05-494c-87f1-350bb9c0dce4" providerId="ADAL" clId="{A5F28E43-FFCC-BD45-B690-A93F0CE3A10D}" dt="2025-03-06T18:35:42.614" v="0" actId="2696"/>
        <pc:sldMkLst>
          <pc:docMk/>
          <pc:sldMk cId="1548672297" sldId="258"/>
        </pc:sldMkLst>
      </pc:sldChg>
      <pc:sldChg chg="modSp mod">
        <pc:chgData name="Swartwood, Nicole Anne" userId="77c21839-1b05-494c-87f1-350bb9c0dce4" providerId="ADAL" clId="{A5F28E43-FFCC-BD45-B690-A93F0CE3A10D}" dt="2025-03-06T18:35:53.588" v="14" actId="20577"/>
        <pc:sldMkLst>
          <pc:docMk/>
          <pc:sldMk cId="2663944790" sldId="259"/>
        </pc:sldMkLst>
        <pc:spChg chg="mod">
          <ac:chgData name="Swartwood, Nicole Anne" userId="77c21839-1b05-494c-87f1-350bb9c0dce4" providerId="ADAL" clId="{A5F28E43-FFCC-BD45-B690-A93F0CE3A10D}" dt="2025-03-06T18:35:53.588" v="14" actId="20577"/>
          <ac:spMkLst>
            <pc:docMk/>
            <pc:sldMk cId="2663944790" sldId="259"/>
            <ac:spMk id="37" creationId="{23DBBEC8-6DEC-D264-D57A-E9CA58EED8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41E12-3080-894E-8286-9EAD400DCC7E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1F0BA-CE5D-8247-BCB6-950E93003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51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9D68F-BA55-0E5F-BF90-FBEE2631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1A24D-B501-5783-AB0D-2D8133BAD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388F1-5F27-B367-3577-6C56875BB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“Based on study definition of bact. positive”</a:t>
            </a:r>
          </a:p>
          <a:p>
            <a:r>
              <a:rPr lang="en-US" dirty="0"/>
              <a:t>46 with adjusted prevalence; only 43 with confidence intervals</a:t>
            </a:r>
          </a:p>
          <a:p>
            <a:r>
              <a:rPr lang="en-US" dirty="0"/>
              <a:t>14 with prevalence; 9 with confidence intervals</a:t>
            </a:r>
          </a:p>
          <a:p>
            <a:r>
              <a:rPr lang="en-US" dirty="0"/>
              <a:t>13 with counts of TB; 12 with participant counts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CE93D-2CB4-F1F9-734D-E22273BA8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1F0BA-CE5D-8247-BCB6-950E93003C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00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AE5B-BC70-421D-4E6F-92BA6F69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ABA8D-F509-A469-C345-3839A642B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06C3F-A748-45AE-9850-D45E33458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“Based on study definition of bact. positive”</a:t>
            </a:r>
          </a:p>
          <a:p>
            <a:r>
              <a:rPr lang="en-US" dirty="0"/>
              <a:t>46 with adjusted prevalence; only 43 with confidence intervals</a:t>
            </a:r>
          </a:p>
          <a:p>
            <a:r>
              <a:rPr lang="en-US" dirty="0"/>
              <a:t>14 with prevalence; 9 with confidence intervals</a:t>
            </a:r>
          </a:p>
          <a:p>
            <a:r>
              <a:rPr lang="en-US" dirty="0"/>
              <a:t>13 with counts of TB; 12 with participant counts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1DCF4-88A8-12C2-D039-E15D13362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1F0BA-CE5D-8247-BCB6-950E93003C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3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79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4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2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3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5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4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7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97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7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4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E70C8-8152-AA42-B231-9775CDC5779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26E60-0AC8-A0BA-4058-2D9898DC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D49A1483-C03E-55DB-9689-E3E79ADB86AE}"/>
              </a:ext>
            </a:extLst>
          </p:cNvPr>
          <p:cNvSpPr/>
          <p:nvPr/>
        </p:nvSpPr>
        <p:spPr>
          <a:xfrm>
            <a:off x="4880210" y="1232208"/>
            <a:ext cx="2687377" cy="84212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DBBEC8-6DEC-D264-D57A-E9CA58EED858}"/>
              </a:ext>
            </a:extLst>
          </p:cNvPr>
          <p:cNvSpPr txBox="1"/>
          <p:nvPr/>
        </p:nvSpPr>
        <p:spPr>
          <a:xfrm>
            <a:off x="217171" y="158844"/>
            <a:ext cx="7338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Reported estimates used in meta-analysis of sex-stratified prevalence</a:t>
            </a:r>
          </a:p>
          <a:p>
            <a:pPr algn="ctr"/>
            <a:r>
              <a:rPr lang="en-US" sz="1600" b="1" dirty="0"/>
              <a:t>bacteriological positive TB estimates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F48827B-2703-92C7-5008-BA16C1EA3C96}"/>
              </a:ext>
            </a:extLst>
          </p:cNvPr>
          <p:cNvSpPr/>
          <p:nvPr/>
        </p:nvSpPr>
        <p:spPr>
          <a:xfrm>
            <a:off x="276163" y="164061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“adjusted prevalence estimates (per 100,000)” with 95% confidence intervals?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9423E6-828B-F8E0-449A-9F9533C6E44A}"/>
              </a:ext>
            </a:extLst>
          </p:cNvPr>
          <p:cNvSpPr/>
          <p:nvPr/>
        </p:nvSpPr>
        <p:spPr>
          <a:xfrm>
            <a:off x="2672231" y="164061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Were these adjusted estimates “inflated due to non-use of chest </a:t>
            </a:r>
            <a:br>
              <a:rPr lang="en-US" sz="1050" dirty="0"/>
            </a:br>
            <a:r>
              <a:rPr lang="en-US" sz="1050" dirty="0"/>
              <a:t>X-ray during screening”?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16DFD7-76FE-5CE8-8B1F-69DD070C006B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1952563" y="2030082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44D540E-4498-0C5F-04F3-EB661A7429AD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1114363" y="2419550"/>
            <a:ext cx="0" cy="457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B83DE4A-8C18-1085-8734-857258627C62}"/>
              </a:ext>
            </a:extLst>
          </p:cNvPr>
          <p:cNvSpPr txBox="1"/>
          <p:nvPr/>
        </p:nvSpPr>
        <p:spPr>
          <a:xfrm>
            <a:off x="2087688" y="1722305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E3F452-DB54-C054-D4E1-D540F32D1AED}"/>
              </a:ext>
            </a:extLst>
          </p:cNvPr>
          <p:cNvSpPr txBox="1"/>
          <p:nvPr/>
        </p:nvSpPr>
        <p:spPr>
          <a:xfrm>
            <a:off x="4402405" y="1722304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8AA7AF8-24C4-C108-675F-658B7394D636}"/>
              </a:ext>
            </a:extLst>
          </p:cNvPr>
          <p:cNvCxnSpPr>
            <a:cxnSpLocks/>
            <a:stCxn id="41" idx="3"/>
            <a:endCxn id="63" idx="1"/>
          </p:cNvCxnSpPr>
          <p:nvPr/>
        </p:nvCxnSpPr>
        <p:spPr>
          <a:xfrm>
            <a:off x="4348632" y="2030082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5E97B5B-320B-C586-74C8-9F657BBD94C4}"/>
              </a:ext>
            </a:extLst>
          </p:cNvPr>
          <p:cNvSpPr/>
          <p:nvPr/>
        </p:nvSpPr>
        <p:spPr>
          <a:xfrm>
            <a:off x="5006372" y="164061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these “adjusted prevalence estimates (per 100,000)” with 95% confidence intervals.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D4D73A-42D3-B395-3C73-60A428C76AE3}"/>
              </a:ext>
            </a:extLst>
          </p:cNvPr>
          <p:cNvSpPr txBox="1"/>
          <p:nvPr/>
        </p:nvSpPr>
        <p:spPr>
          <a:xfrm>
            <a:off x="1189204" y="2494259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DFB4F40-5AD3-4476-DB4D-2CB5755389B3}"/>
              </a:ext>
            </a:extLst>
          </p:cNvPr>
          <p:cNvSpPr/>
          <p:nvPr/>
        </p:nvSpPr>
        <p:spPr>
          <a:xfrm>
            <a:off x="269212" y="2919198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“crude prevalence estimates (per 100,000)” with 95% confidence intervals?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F39ED71-9D2B-DBC4-769A-B6DB5FFD0DD0}"/>
              </a:ext>
            </a:extLst>
          </p:cNvPr>
          <p:cNvSpPr/>
          <p:nvPr/>
        </p:nvSpPr>
        <p:spPr>
          <a:xfrm>
            <a:off x="2672231" y="3124150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Were these crude estimates “inflated due to non-use of chest </a:t>
            </a:r>
            <a:br>
              <a:rPr lang="en-US" sz="1050" dirty="0"/>
            </a:br>
            <a:r>
              <a:rPr lang="en-US" sz="1050" dirty="0"/>
              <a:t>X-ray during screening”?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1794B84-6E30-5E58-4B7B-089E808D7474}"/>
              </a:ext>
            </a:extLst>
          </p:cNvPr>
          <p:cNvCxnSpPr>
            <a:endCxn id="68" idx="1"/>
          </p:cNvCxnSpPr>
          <p:nvPr/>
        </p:nvCxnSpPr>
        <p:spPr>
          <a:xfrm>
            <a:off x="1952563" y="3513616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4F00519-B657-D3FC-661C-710F150EA48D}"/>
              </a:ext>
            </a:extLst>
          </p:cNvPr>
          <p:cNvSpPr txBox="1"/>
          <p:nvPr/>
        </p:nvSpPr>
        <p:spPr>
          <a:xfrm>
            <a:off x="2087688" y="3205839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A1C5AC-B3EC-CDF0-E345-4AA0DA817449}"/>
              </a:ext>
            </a:extLst>
          </p:cNvPr>
          <p:cNvSpPr txBox="1"/>
          <p:nvPr/>
        </p:nvSpPr>
        <p:spPr>
          <a:xfrm>
            <a:off x="4402405" y="3205838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D412863-F0A5-73DF-15CF-099CC59041F9}"/>
              </a:ext>
            </a:extLst>
          </p:cNvPr>
          <p:cNvCxnSpPr>
            <a:cxnSpLocks/>
            <a:stCxn id="68" idx="3"/>
            <a:endCxn id="73" idx="1"/>
          </p:cNvCxnSpPr>
          <p:nvPr/>
        </p:nvCxnSpPr>
        <p:spPr>
          <a:xfrm>
            <a:off x="4348631" y="3513618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003B8F27-D033-927C-8663-2684AF4AD2D3}"/>
              </a:ext>
            </a:extLst>
          </p:cNvPr>
          <p:cNvSpPr/>
          <p:nvPr/>
        </p:nvSpPr>
        <p:spPr>
          <a:xfrm>
            <a:off x="5006372" y="3124150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these “crude prevalence estimates (per 100,000)” with 95% confidence intervals?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006356-9A76-EA82-561D-EC08CCD9B671}"/>
              </a:ext>
            </a:extLst>
          </p:cNvPr>
          <p:cNvSpPr txBox="1"/>
          <p:nvPr/>
        </p:nvSpPr>
        <p:spPr>
          <a:xfrm>
            <a:off x="4912885" y="1284427"/>
            <a:ext cx="2654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Estimates to be analyzed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EDCC866-97A3-83B6-A742-7CD60C26CE98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1107412" y="3698131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631E0EB-147D-54F5-76E2-08CDF233411A}"/>
              </a:ext>
            </a:extLst>
          </p:cNvPr>
          <p:cNvSpPr txBox="1"/>
          <p:nvPr/>
        </p:nvSpPr>
        <p:spPr>
          <a:xfrm>
            <a:off x="1182253" y="3787547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E75BB71C-04E8-C1FE-3DE5-253023ACF165}"/>
              </a:ext>
            </a:extLst>
          </p:cNvPr>
          <p:cNvSpPr/>
          <p:nvPr/>
        </p:nvSpPr>
        <p:spPr>
          <a:xfrm>
            <a:off x="5017451" y="4449255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numerator and denominator to calculate prevalence per 100,000</a:t>
            </a: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91EB68DC-6B97-7583-C3B6-2D4DE93FED76}"/>
              </a:ext>
            </a:extLst>
          </p:cNvPr>
          <p:cNvCxnSpPr>
            <a:cxnSpLocks/>
            <a:stCxn id="68" idx="2"/>
          </p:cNvCxnSpPr>
          <p:nvPr/>
        </p:nvCxnSpPr>
        <p:spPr>
          <a:xfrm rot="5400000">
            <a:off x="2504772" y="3326635"/>
            <a:ext cx="429213" cy="15821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B0471BE-0E6A-5174-5E42-70CBCEBA81E9}"/>
              </a:ext>
            </a:extLst>
          </p:cNvPr>
          <p:cNvSpPr txBox="1"/>
          <p:nvPr/>
        </p:nvSpPr>
        <p:spPr>
          <a:xfrm>
            <a:off x="3524524" y="3956770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462D93D2-03E3-46B9-989A-FE75EA5EE2D9}"/>
              </a:ext>
            </a:extLst>
          </p:cNvPr>
          <p:cNvSpPr/>
          <p:nvPr/>
        </p:nvSpPr>
        <p:spPr>
          <a:xfrm>
            <a:off x="5029328" y="5739319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Use numerator or denominator with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>
                <a:solidFill>
                  <a:schemeClr val="tx1"/>
                </a:solidFill>
              </a:rPr>
              <a:t>“adjusted prevalence estimates”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10A77084-67E7-CBC6-DF2D-D23F00E0A3D4}"/>
              </a:ext>
            </a:extLst>
          </p:cNvPr>
          <p:cNvSpPr/>
          <p:nvPr/>
        </p:nvSpPr>
        <p:spPr>
          <a:xfrm>
            <a:off x="5052011" y="8189533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Exclude from meta-analysis of this strata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9C13A5F-5CBB-F017-208A-135411562E05}"/>
              </a:ext>
            </a:extLst>
          </p:cNvPr>
          <p:cNvSpPr txBox="1"/>
          <p:nvPr/>
        </p:nvSpPr>
        <p:spPr>
          <a:xfrm>
            <a:off x="3512721" y="2584622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9E64011-9D6E-713F-AA27-03F269D203ED}"/>
              </a:ext>
            </a:extLst>
          </p:cNvPr>
          <p:cNvSpPr/>
          <p:nvPr/>
        </p:nvSpPr>
        <p:spPr>
          <a:xfrm>
            <a:off x="2683309" y="5762742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also “adjusted prevalence estimates” without 95% confidence intervals?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84275FF-E943-4460-4B87-DE43AD9D5D5B}"/>
              </a:ext>
            </a:extLst>
          </p:cNvPr>
          <p:cNvCxnSpPr>
            <a:cxnSpLocks/>
            <a:stCxn id="99" idx="3"/>
          </p:cNvCxnSpPr>
          <p:nvPr/>
        </p:nvCxnSpPr>
        <p:spPr>
          <a:xfrm>
            <a:off x="4359710" y="6152208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DD694F42-4767-116E-EABA-76C15A6AEC9A}"/>
              </a:ext>
            </a:extLst>
          </p:cNvPr>
          <p:cNvSpPr txBox="1"/>
          <p:nvPr/>
        </p:nvSpPr>
        <p:spPr>
          <a:xfrm>
            <a:off x="3524968" y="6619130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6FB7937-7EAC-6DFD-C206-726FE366C4BF}"/>
              </a:ext>
            </a:extLst>
          </p:cNvPr>
          <p:cNvSpPr txBox="1"/>
          <p:nvPr/>
        </p:nvSpPr>
        <p:spPr>
          <a:xfrm>
            <a:off x="4375403" y="5832414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ACDCBFE-7BA3-4F20-9989-507332A16CB2}"/>
              </a:ext>
            </a:extLst>
          </p:cNvPr>
          <p:cNvCxnSpPr>
            <a:cxnSpLocks/>
          </p:cNvCxnSpPr>
          <p:nvPr/>
        </p:nvCxnSpPr>
        <p:spPr>
          <a:xfrm>
            <a:off x="3526779" y="6544986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CD2D2723-468B-BDF0-08BA-023BA10EBA8B}"/>
              </a:ext>
            </a:extLst>
          </p:cNvPr>
          <p:cNvSpPr/>
          <p:nvPr/>
        </p:nvSpPr>
        <p:spPr>
          <a:xfrm>
            <a:off x="2693710" y="7083257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also “crude prevalence estimates” without 95% confidence intervals?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4DC6180-3BF5-535B-0693-C06F372EFDF2}"/>
              </a:ext>
            </a:extLst>
          </p:cNvPr>
          <p:cNvSpPr txBox="1"/>
          <p:nvPr/>
        </p:nvSpPr>
        <p:spPr>
          <a:xfrm>
            <a:off x="3529085" y="7968131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EB888E29-7680-445E-DF1E-808F2AADE64D}"/>
              </a:ext>
            </a:extLst>
          </p:cNvPr>
          <p:cNvSpPr/>
          <p:nvPr/>
        </p:nvSpPr>
        <p:spPr>
          <a:xfrm>
            <a:off x="5052011" y="7034301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Use numerator or denominator with</a:t>
            </a:r>
            <a:br>
              <a:rPr lang="en-US" sz="1050" dirty="0"/>
            </a:br>
            <a:r>
              <a:rPr lang="en-US" sz="1050" dirty="0"/>
              <a:t>“crude prevalence estimates”</a:t>
            </a:r>
            <a:endParaRPr lang="en-US" sz="1050" dirty="0">
              <a:highlight>
                <a:srgbClr val="FFFF00"/>
              </a:highlight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20BDF22-AA51-FF7B-536E-2E62163B45E0}"/>
              </a:ext>
            </a:extLst>
          </p:cNvPr>
          <p:cNvCxnSpPr>
            <a:cxnSpLocks/>
          </p:cNvCxnSpPr>
          <p:nvPr/>
        </p:nvCxnSpPr>
        <p:spPr>
          <a:xfrm>
            <a:off x="4374229" y="7447190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F98AB84-D431-AB8D-A753-C6C86D2C7368}"/>
              </a:ext>
            </a:extLst>
          </p:cNvPr>
          <p:cNvSpPr txBox="1"/>
          <p:nvPr/>
        </p:nvSpPr>
        <p:spPr>
          <a:xfrm>
            <a:off x="4378144" y="7138127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875715AE-F9BE-3B25-4DAB-BD7C39DD9F60}"/>
              </a:ext>
            </a:extLst>
          </p:cNvPr>
          <p:cNvSpPr/>
          <p:nvPr/>
        </p:nvSpPr>
        <p:spPr>
          <a:xfrm>
            <a:off x="244958" y="423599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number of cases (</a:t>
            </a:r>
            <a:r>
              <a:rPr lang="en-US" sz="1050" dirty="0">
                <a:solidFill>
                  <a:schemeClr val="tx1"/>
                </a:solidFill>
              </a:rPr>
              <a:t>numerators) or participants (denominators)?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D195275B-E6E8-481E-7C9D-8C4354B2A185}"/>
              </a:ext>
            </a:extLst>
          </p:cNvPr>
          <p:cNvSpPr/>
          <p:nvPr/>
        </p:nvSpPr>
        <p:spPr>
          <a:xfrm>
            <a:off x="2672232" y="444594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Are there both numerators and denominators?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B3A6ED9-8F90-B3D7-D9BB-FC7165133907}"/>
              </a:ext>
            </a:extLst>
          </p:cNvPr>
          <p:cNvCxnSpPr>
            <a:cxnSpLocks/>
          </p:cNvCxnSpPr>
          <p:nvPr/>
        </p:nvCxnSpPr>
        <p:spPr>
          <a:xfrm>
            <a:off x="1923988" y="4835412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A3DA2B9-1E50-7671-2086-2CB8A787A46C}"/>
              </a:ext>
            </a:extLst>
          </p:cNvPr>
          <p:cNvSpPr txBox="1"/>
          <p:nvPr/>
        </p:nvSpPr>
        <p:spPr>
          <a:xfrm>
            <a:off x="2087689" y="4527635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31D10A0-8DE5-901F-4E3E-3CF7E68F7980}"/>
              </a:ext>
            </a:extLst>
          </p:cNvPr>
          <p:cNvCxnSpPr>
            <a:cxnSpLocks/>
            <a:stCxn id="115" idx="3"/>
          </p:cNvCxnSpPr>
          <p:nvPr/>
        </p:nvCxnSpPr>
        <p:spPr>
          <a:xfrm>
            <a:off x="4348633" y="4835412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542FE6B4-7EFE-DAC0-07AE-F36F6CB59E9A}"/>
              </a:ext>
            </a:extLst>
          </p:cNvPr>
          <p:cNvSpPr txBox="1"/>
          <p:nvPr/>
        </p:nvSpPr>
        <p:spPr>
          <a:xfrm>
            <a:off x="3520197" y="5314946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091CFE2-411E-BAE7-44D8-C134B3D93F3D}"/>
              </a:ext>
            </a:extLst>
          </p:cNvPr>
          <p:cNvSpPr txBox="1"/>
          <p:nvPr/>
        </p:nvSpPr>
        <p:spPr>
          <a:xfrm>
            <a:off x="4362752" y="4526349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79481F6-92A7-F7D7-C472-21715A077B62}"/>
              </a:ext>
            </a:extLst>
          </p:cNvPr>
          <p:cNvCxnSpPr>
            <a:cxnSpLocks/>
          </p:cNvCxnSpPr>
          <p:nvPr/>
        </p:nvCxnSpPr>
        <p:spPr>
          <a:xfrm>
            <a:off x="3515702" y="5228190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6CC7D723-CEF9-7DFC-F148-4FE533200F98}"/>
              </a:ext>
            </a:extLst>
          </p:cNvPr>
          <p:cNvCxnSpPr>
            <a:cxnSpLocks/>
          </p:cNvCxnSpPr>
          <p:nvPr/>
        </p:nvCxnSpPr>
        <p:spPr>
          <a:xfrm>
            <a:off x="1068870" y="5055262"/>
            <a:ext cx="3948581" cy="3760076"/>
          </a:xfrm>
          <a:prstGeom prst="bentConnector3">
            <a:avLst>
              <a:gd name="adj1" fmla="val 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29A65A9F-E67B-6F01-0C15-769024BF3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52563" y="2437103"/>
            <a:ext cx="1545956" cy="581108"/>
          </a:xfrm>
          <a:prstGeom prst="bentConnector3">
            <a:avLst>
              <a:gd name="adj1" fmla="val -7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7A69290A-5770-B36A-9182-520499C87C79}"/>
              </a:ext>
            </a:extLst>
          </p:cNvPr>
          <p:cNvSpPr txBox="1"/>
          <p:nvPr/>
        </p:nvSpPr>
        <p:spPr>
          <a:xfrm>
            <a:off x="97761" y="1242624"/>
            <a:ext cx="2168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Does the study report…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C91DBD87-667A-72EF-261C-85E55F84F459}"/>
              </a:ext>
            </a:extLst>
          </p:cNvPr>
          <p:cNvCxnSpPr>
            <a:cxnSpLocks/>
            <a:stCxn id="108" idx="2"/>
          </p:cNvCxnSpPr>
          <p:nvPr/>
        </p:nvCxnSpPr>
        <p:spPr>
          <a:xfrm rot="16200000" flipH="1">
            <a:off x="3995804" y="7398298"/>
            <a:ext cx="569630" cy="14974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E0E87D0A-3C44-7A5D-AD44-CA4D61781068}"/>
              </a:ext>
            </a:extLst>
          </p:cNvPr>
          <p:cNvSpPr txBox="1"/>
          <p:nvPr/>
        </p:nvSpPr>
        <p:spPr>
          <a:xfrm>
            <a:off x="6671418" y="1723047"/>
            <a:ext cx="89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 BACT</a:t>
            </a:r>
          </a:p>
          <a:p>
            <a:pPr algn="ctr"/>
            <a:r>
              <a:rPr lang="en-US" sz="1200" b="1" dirty="0"/>
              <a:t>2 SMR</a:t>
            </a:r>
          </a:p>
          <a:p>
            <a:pPr algn="ctr"/>
            <a:r>
              <a:rPr lang="en-US" sz="1200" b="1" dirty="0"/>
              <a:t>estimates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A2595C3-4DC6-8524-7C97-93D1BD8F6A99}"/>
              </a:ext>
            </a:extLst>
          </p:cNvPr>
          <p:cNvSpPr txBox="1"/>
          <p:nvPr/>
        </p:nvSpPr>
        <p:spPr>
          <a:xfrm>
            <a:off x="6677345" y="3147725"/>
            <a:ext cx="906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10 BACT</a:t>
            </a:r>
          </a:p>
          <a:p>
            <a:pPr algn="ctr"/>
            <a:r>
              <a:rPr lang="en-US" sz="1200" b="1" dirty="0"/>
              <a:t>6 SMR</a:t>
            </a:r>
          </a:p>
          <a:p>
            <a:pPr algn="ctr"/>
            <a:r>
              <a:rPr lang="en-US" sz="1200" b="1" dirty="0"/>
              <a:t>estimates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994431A-3DD2-F00F-449A-29CF620424D0}"/>
              </a:ext>
            </a:extLst>
          </p:cNvPr>
          <p:cNvSpPr txBox="1"/>
          <p:nvPr/>
        </p:nvSpPr>
        <p:spPr>
          <a:xfrm>
            <a:off x="6670415" y="4427044"/>
            <a:ext cx="937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20 BACT</a:t>
            </a:r>
          </a:p>
          <a:p>
            <a:pPr algn="ctr"/>
            <a:r>
              <a:rPr lang="en-US" sz="1200" b="1" dirty="0"/>
              <a:t>6 CULT</a:t>
            </a:r>
          </a:p>
          <a:p>
            <a:pPr algn="ctr"/>
            <a:r>
              <a:rPr lang="en-US" sz="1200" b="1" dirty="0"/>
              <a:t>12 SMR</a:t>
            </a:r>
          </a:p>
          <a:p>
            <a:pPr algn="ctr"/>
            <a:r>
              <a:rPr lang="en-US" sz="1200" b="1" dirty="0"/>
              <a:t>estimates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2678577-AA10-354F-11ED-A9DDCC232F47}"/>
              </a:ext>
            </a:extLst>
          </p:cNvPr>
          <p:cNvSpPr txBox="1"/>
          <p:nvPr/>
        </p:nvSpPr>
        <p:spPr>
          <a:xfrm>
            <a:off x="6690659" y="5773285"/>
            <a:ext cx="879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0</a:t>
            </a:r>
          </a:p>
          <a:p>
            <a:pPr algn="ctr"/>
            <a:r>
              <a:rPr lang="en-US" sz="1200" b="1" dirty="0"/>
              <a:t>estimates</a:t>
            </a:r>
            <a:br>
              <a:rPr lang="en-US" sz="1200" b="1" dirty="0"/>
            </a:br>
            <a:r>
              <a:rPr lang="en-US" sz="1200" b="1" dirty="0"/>
              <a:t>included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FA4E3A0-8502-DB63-A357-E9E6A043F188}"/>
              </a:ext>
            </a:extLst>
          </p:cNvPr>
          <p:cNvSpPr txBox="1"/>
          <p:nvPr/>
        </p:nvSpPr>
        <p:spPr>
          <a:xfrm>
            <a:off x="6722490" y="8226604"/>
            <a:ext cx="879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</a:t>
            </a:r>
          </a:p>
          <a:p>
            <a:pPr algn="ctr"/>
            <a:r>
              <a:rPr lang="en-US" sz="1200" b="1" dirty="0"/>
              <a:t>surveys</a:t>
            </a:r>
            <a:br>
              <a:rPr lang="en-US" sz="1200" b="1" dirty="0"/>
            </a:br>
            <a:r>
              <a:rPr lang="en-US" sz="1200" b="1" dirty="0"/>
              <a:t>excluded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61606C-18B2-2990-5715-1CA2EE203F7A}"/>
              </a:ext>
            </a:extLst>
          </p:cNvPr>
          <p:cNvSpPr txBox="1"/>
          <p:nvPr/>
        </p:nvSpPr>
        <p:spPr>
          <a:xfrm>
            <a:off x="6681037" y="7178185"/>
            <a:ext cx="87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 SMR</a:t>
            </a:r>
          </a:p>
          <a:p>
            <a:pPr algn="ctr"/>
            <a:r>
              <a:rPr lang="en-US" sz="1200" b="1" dirty="0"/>
              <a:t>estimate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2DB9D-9C09-817E-4B8A-24D097F096F5}"/>
              </a:ext>
            </a:extLst>
          </p:cNvPr>
          <p:cNvSpPr txBox="1"/>
          <p:nvPr/>
        </p:nvSpPr>
        <p:spPr>
          <a:xfrm>
            <a:off x="4931302" y="9259078"/>
            <a:ext cx="2654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102 </a:t>
            </a:r>
            <a:r>
              <a:rPr lang="en-US" sz="1400" b="1" dirty="0"/>
              <a:t>surveys total included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B4621-5BBF-F615-0251-5E15DF4B0B67}"/>
              </a:ext>
            </a:extLst>
          </p:cNvPr>
          <p:cNvSpPr txBox="1"/>
          <p:nvPr/>
        </p:nvSpPr>
        <p:spPr>
          <a:xfrm>
            <a:off x="249534" y="8859393"/>
            <a:ext cx="48015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Note: </a:t>
            </a:r>
          </a:p>
          <a:p>
            <a:r>
              <a:rPr lang="en-US" sz="1000" dirty="0"/>
              <a:t>At each step in the decision tree, we also considered the indicator of TB. Where reported, we first selected estimates of “bacteriologically positive TB”,</a:t>
            </a:r>
          </a:p>
          <a:p>
            <a:r>
              <a:rPr lang="en-US" sz="1000" dirty="0"/>
              <a:t>followed by “culture positive TB,”  then finally “smear positive TB.”</a:t>
            </a:r>
          </a:p>
          <a:p>
            <a:r>
              <a:rPr lang="en-US" sz="1000" dirty="0"/>
              <a:t>For each quantity, inclusion requires separate values for both men and women.</a:t>
            </a:r>
          </a:p>
        </p:txBody>
      </p:sp>
    </p:spTree>
    <p:extLst>
      <p:ext uri="{BB962C8B-B14F-4D97-AF65-F5344CB8AC3E}">
        <p14:creationId xmlns:p14="http://schemas.microsoft.com/office/powerpoint/2010/main" val="266394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5F59-E164-9001-9EEC-ED2BD448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D582FA08-03DE-5BA2-47F6-4DC241742B67}"/>
              </a:ext>
            </a:extLst>
          </p:cNvPr>
          <p:cNvSpPr/>
          <p:nvPr/>
        </p:nvSpPr>
        <p:spPr>
          <a:xfrm>
            <a:off x="4880210" y="1145709"/>
            <a:ext cx="2687377" cy="84212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092CFF-77FD-901D-D9A1-B0E8577F875A}"/>
              </a:ext>
            </a:extLst>
          </p:cNvPr>
          <p:cNvSpPr txBox="1"/>
          <p:nvPr/>
        </p:nvSpPr>
        <p:spPr>
          <a:xfrm>
            <a:off x="217171" y="158844"/>
            <a:ext cx="7338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Reported estimates used in meta-analysis of sex-stratified prevalence</a:t>
            </a:r>
          </a:p>
          <a:p>
            <a:pPr algn="ctr"/>
            <a:r>
              <a:rPr lang="en-US" sz="1600" b="1" dirty="0"/>
              <a:t>smear positive TB estimates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491F1E9-BF59-A3E3-B55E-3BB999D367E6}"/>
              </a:ext>
            </a:extLst>
          </p:cNvPr>
          <p:cNvSpPr/>
          <p:nvPr/>
        </p:nvSpPr>
        <p:spPr>
          <a:xfrm>
            <a:off x="276163" y="1554117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“adjusted prevalence estimates (per 100,000)” with 95% confidence intervals?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CFD66FB-013C-B086-59C2-24A545EC71BC}"/>
              </a:ext>
            </a:extLst>
          </p:cNvPr>
          <p:cNvSpPr/>
          <p:nvPr/>
        </p:nvSpPr>
        <p:spPr>
          <a:xfrm>
            <a:off x="2672231" y="1554117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Were these adjusted estimates “inflated due to non-use of chest </a:t>
            </a:r>
            <a:br>
              <a:rPr lang="en-US" sz="1050" dirty="0"/>
            </a:br>
            <a:r>
              <a:rPr lang="en-US" sz="1050" dirty="0"/>
              <a:t>X-ray during screening”?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139BEB8-A7CD-D0E3-A48E-2EC7F3321A39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1952563" y="1943583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D66B52-54BE-E24A-D34E-957CE288D88C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1114363" y="2333051"/>
            <a:ext cx="0" cy="457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C55DEDE-57FB-F93D-13C1-CC07C767A671}"/>
              </a:ext>
            </a:extLst>
          </p:cNvPr>
          <p:cNvSpPr txBox="1"/>
          <p:nvPr/>
        </p:nvSpPr>
        <p:spPr>
          <a:xfrm>
            <a:off x="2087688" y="1635806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96F65C-5B0D-A3F9-23E0-B70C4CA167D8}"/>
              </a:ext>
            </a:extLst>
          </p:cNvPr>
          <p:cNvSpPr txBox="1"/>
          <p:nvPr/>
        </p:nvSpPr>
        <p:spPr>
          <a:xfrm>
            <a:off x="4402405" y="1635805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2CB1D68-BAB9-1CCC-3A40-F0FF474D6225}"/>
              </a:ext>
            </a:extLst>
          </p:cNvPr>
          <p:cNvCxnSpPr>
            <a:cxnSpLocks/>
            <a:stCxn id="41" idx="3"/>
            <a:endCxn id="63" idx="1"/>
          </p:cNvCxnSpPr>
          <p:nvPr/>
        </p:nvCxnSpPr>
        <p:spPr>
          <a:xfrm>
            <a:off x="4348632" y="1943583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92AFB89-D7C8-DAC5-392E-DA57FEC3C89F}"/>
              </a:ext>
            </a:extLst>
          </p:cNvPr>
          <p:cNvSpPr/>
          <p:nvPr/>
        </p:nvSpPr>
        <p:spPr>
          <a:xfrm>
            <a:off x="5006372" y="1554117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these “adjusted prevalence estimates (per 100,000)” with 95% confidence intervals.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E2929A-90DC-640C-ADF8-81688AE09CAA}"/>
              </a:ext>
            </a:extLst>
          </p:cNvPr>
          <p:cNvSpPr txBox="1"/>
          <p:nvPr/>
        </p:nvSpPr>
        <p:spPr>
          <a:xfrm>
            <a:off x="1189204" y="2407760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E7127C4-3299-1027-BE11-5B22DA0B9A3F}"/>
              </a:ext>
            </a:extLst>
          </p:cNvPr>
          <p:cNvSpPr/>
          <p:nvPr/>
        </p:nvSpPr>
        <p:spPr>
          <a:xfrm>
            <a:off x="269212" y="2832699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“crude prevalence estimates (per 100,000)” with 95% confidence intervals?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4BE0DC1D-55F2-14C4-DFE8-4D721F5F5315}"/>
              </a:ext>
            </a:extLst>
          </p:cNvPr>
          <p:cNvSpPr/>
          <p:nvPr/>
        </p:nvSpPr>
        <p:spPr>
          <a:xfrm>
            <a:off x="2672231" y="3037651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Were these crude estimates “inflated due to non-use of chest </a:t>
            </a:r>
            <a:br>
              <a:rPr lang="en-US" sz="1050" dirty="0"/>
            </a:br>
            <a:r>
              <a:rPr lang="en-US" sz="1050" dirty="0"/>
              <a:t>X-ray during screening”?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9748D12-2FDB-BAA2-0D58-1DA06FE6E4EA}"/>
              </a:ext>
            </a:extLst>
          </p:cNvPr>
          <p:cNvCxnSpPr>
            <a:endCxn id="68" idx="1"/>
          </p:cNvCxnSpPr>
          <p:nvPr/>
        </p:nvCxnSpPr>
        <p:spPr>
          <a:xfrm>
            <a:off x="1952563" y="3427117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0091D91-7977-28D1-33F7-183E2C3582C1}"/>
              </a:ext>
            </a:extLst>
          </p:cNvPr>
          <p:cNvSpPr txBox="1"/>
          <p:nvPr/>
        </p:nvSpPr>
        <p:spPr>
          <a:xfrm>
            <a:off x="2087688" y="3119340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599C47-ED64-24A4-FD2A-7903F965A419}"/>
              </a:ext>
            </a:extLst>
          </p:cNvPr>
          <p:cNvSpPr txBox="1"/>
          <p:nvPr/>
        </p:nvSpPr>
        <p:spPr>
          <a:xfrm>
            <a:off x="4402405" y="3119339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D9C370D-B9C3-D406-6264-52B650D7A96A}"/>
              </a:ext>
            </a:extLst>
          </p:cNvPr>
          <p:cNvCxnSpPr>
            <a:cxnSpLocks/>
            <a:stCxn id="68" idx="3"/>
            <a:endCxn id="73" idx="1"/>
          </p:cNvCxnSpPr>
          <p:nvPr/>
        </p:nvCxnSpPr>
        <p:spPr>
          <a:xfrm>
            <a:off x="4348631" y="3427119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9D72ECE5-5CD3-C4F7-4847-EDCB19CE6EC2}"/>
              </a:ext>
            </a:extLst>
          </p:cNvPr>
          <p:cNvSpPr/>
          <p:nvPr/>
        </p:nvSpPr>
        <p:spPr>
          <a:xfrm>
            <a:off x="5006372" y="3037651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these “crude prevalence estimates (per 100,000)” with 95% confidence intervals?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DD60F9-1FB8-6513-02DA-B10EB70776F0}"/>
              </a:ext>
            </a:extLst>
          </p:cNvPr>
          <p:cNvSpPr txBox="1"/>
          <p:nvPr/>
        </p:nvSpPr>
        <p:spPr>
          <a:xfrm>
            <a:off x="4912885" y="1197928"/>
            <a:ext cx="2654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Estimates to be analyzed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A1C23DC-D10C-B3C8-A973-269850C75C61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1107412" y="3611632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444FB67-398B-E304-774E-1CA92846E543}"/>
              </a:ext>
            </a:extLst>
          </p:cNvPr>
          <p:cNvSpPr txBox="1"/>
          <p:nvPr/>
        </p:nvSpPr>
        <p:spPr>
          <a:xfrm>
            <a:off x="1182253" y="3701048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8FE702F-1748-2D62-4188-CB83500EC355}"/>
              </a:ext>
            </a:extLst>
          </p:cNvPr>
          <p:cNvSpPr/>
          <p:nvPr/>
        </p:nvSpPr>
        <p:spPr>
          <a:xfrm>
            <a:off x="5017451" y="436275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numerator and denominator to calculate prevalence per 100,000</a:t>
            </a: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F81E9D37-B7BE-E6D3-E274-606073FD486C}"/>
              </a:ext>
            </a:extLst>
          </p:cNvPr>
          <p:cNvCxnSpPr>
            <a:cxnSpLocks/>
            <a:stCxn id="68" idx="2"/>
          </p:cNvCxnSpPr>
          <p:nvPr/>
        </p:nvCxnSpPr>
        <p:spPr>
          <a:xfrm rot="5400000">
            <a:off x="2504772" y="3240136"/>
            <a:ext cx="429213" cy="15821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2BF6D88-E438-3CAC-945A-58FEAD236BAF}"/>
              </a:ext>
            </a:extLst>
          </p:cNvPr>
          <p:cNvSpPr txBox="1"/>
          <p:nvPr/>
        </p:nvSpPr>
        <p:spPr>
          <a:xfrm>
            <a:off x="3524524" y="3870271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187C449C-176F-FA37-D494-07274DFD9C55}"/>
              </a:ext>
            </a:extLst>
          </p:cNvPr>
          <p:cNvSpPr/>
          <p:nvPr/>
        </p:nvSpPr>
        <p:spPr>
          <a:xfrm>
            <a:off x="5029328" y="5652820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numerator and </a:t>
            </a:r>
            <a:br>
              <a:rPr lang="en-US" sz="1050" dirty="0"/>
            </a:br>
            <a:r>
              <a:rPr lang="en-US" sz="1050" dirty="0"/>
              <a:t>“adjusted prevalence estimates”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55C35F1E-800A-912D-BABF-CD8FF05A2F33}"/>
              </a:ext>
            </a:extLst>
          </p:cNvPr>
          <p:cNvSpPr/>
          <p:nvPr/>
        </p:nvSpPr>
        <p:spPr>
          <a:xfrm>
            <a:off x="5052011" y="8103034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Exclude from meta-analysis of this strata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86C95E-1325-43BB-55BC-04FC99E02E9B}"/>
              </a:ext>
            </a:extLst>
          </p:cNvPr>
          <p:cNvSpPr txBox="1"/>
          <p:nvPr/>
        </p:nvSpPr>
        <p:spPr>
          <a:xfrm>
            <a:off x="3512721" y="2498123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C43DAD8F-86AE-4F78-0EFA-7CC54E0FE2A9}"/>
              </a:ext>
            </a:extLst>
          </p:cNvPr>
          <p:cNvSpPr/>
          <p:nvPr/>
        </p:nvSpPr>
        <p:spPr>
          <a:xfrm>
            <a:off x="2683309" y="5676243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also “adjusted prevalence estimates” without 95% confidence intervals?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7A5A0BB-5DA5-B00B-1D4E-5C33235A1C39}"/>
              </a:ext>
            </a:extLst>
          </p:cNvPr>
          <p:cNvCxnSpPr>
            <a:cxnSpLocks/>
            <a:stCxn id="99" idx="3"/>
          </p:cNvCxnSpPr>
          <p:nvPr/>
        </p:nvCxnSpPr>
        <p:spPr>
          <a:xfrm>
            <a:off x="4359710" y="6065709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4CC5146-6D60-4014-A6F6-0704550FD2A3}"/>
              </a:ext>
            </a:extLst>
          </p:cNvPr>
          <p:cNvSpPr txBox="1"/>
          <p:nvPr/>
        </p:nvSpPr>
        <p:spPr>
          <a:xfrm>
            <a:off x="3524968" y="6532631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BF4FC8-8858-0717-77F1-EA9A0279BE97}"/>
              </a:ext>
            </a:extLst>
          </p:cNvPr>
          <p:cNvSpPr txBox="1"/>
          <p:nvPr/>
        </p:nvSpPr>
        <p:spPr>
          <a:xfrm>
            <a:off x="4375403" y="5745915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736E0C6-6661-75B3-B067-27D80CD4DE9B}"/>
              </a:ext>
            </a:extLst>
          </p:cNvPr>
          <p:cNvCxnSpPr>
            <a:cxnSpLocks/>
          </p:cNvCxnSpPr>
          <p:nvPr/>
        </p:nvCxnSpPr>
        <p:spPr>
          <a:xfrm>
            <a:off x="3526779" y="6458487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35C39175-AB9D-8BD9-BA19-782BFE087CD6}"/>
              </a:ext>
            </a:extLst>
          </p:cNvPr>
          <p:cNvSpPr/>
          <p:nvPr/>
        </p:nvSpPr>
        <p:spPr>
          <a:xfrm>
            <a:off x="2693710" y="6996758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also “crude prevalence estimates” without 95% confidence intervals?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0FBBEC3-5396-1F1A-E5A4-40FF490C9692}"/>
              </a:ext>
            </a:extLst>
          </p:cNvPr>
          <p:cNvSpPr txBox="1"/>
          <p:nvPr/>
        </p:nvSpPr>
        <p:spPr>
          <a:xfrm>
            <a:off x="3529085" y="7881632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0A4E022B-C9E7-7836-A081-BD8A8D5F4E5F}"/>
              </a:ext>
            </a:extLst>
          </p:cNvPr>
          <p:cNvSpPr/>
          <p:nvPr/>
        </p:nvSpPr>
        <p:spPr>
          <a:xfrm>
            <a:off x="5052011" y="6947802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numerator and </a:t>
            </a:r>
            <a:br>
              <a:rPr lang="en-US" sz="1050" dirty="0"/>
            </a:br>
            <a:r>
              <a:rPr lang="en-US" sz="1050" dirty="0"/>
              <a:t>“crude prevalence estimates”</a:t>
            </a:r>
            <a:endParaRPr lang="en-US" sz="1050" dirty="0">
              <a:highlight>
                <a:srgbClr val="FFFF00"/>
              </a:highlight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2BA1C61-DEFB-B162-A2EF-483E629BC4AF}"/>
              </a:ext>
            </a:extLst>
          </p:cNvPr>
          <p:cNvCxnSpPr>
            <a:cxnSpLocks/>
          </p:cNvCxnSpPr>
          <p:nvPr/>
        </p:nvCxnSpPr>
        <p:spPr>
          <a:xfrm>
            <a:off x="4374229" y="7360691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7347FF4-A07D-B1A1-2FE2-EC2C9C6E8978}"/>
              </a:ext>
            </a:extLst>
          </p:cNvPr>
          <p:cNvSpPr txBox="1"/>
          <p:nvPr/>
        </p:nvSpPr>
        <p:spPr>
          <a:xfrm>
            <a:off x="4378144" y="7051628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8695691A-B3F8-B3C6-A56E-86F24ED752BE}"/>
              </a:ext>
            </a:extLst>
          </p:cNvPr>
          <p:cNvSpPr/>
          <p:nvPr/>
        </p:nvSpPr>
        <p:spPr>
          <a:xfrm>
            <a:off x="244958" y="4149497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number of cases (numerators)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40130084-CE91-90D6-5091-13FDB4BC2E6E}"/>
              </a:ext>
            </a:extLst>
          </p:cNvPr>
          <p:cNvSpPr/>
          <p:nvPr/>
        </p:nvSpPr>
        <p:spPr>
          <a:xfrm>
            <a:off x="2672232" y="4359447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also number of participants (denominators)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7B9A940-1A33-0390-2A6E-E577CE88A7F7}"/>
              </a:ext>
            </a:extLst>
          </p:cNvPr>
          <p:cNvCxnSpPr>
            <a:cxnSpLocks/>
          </p:cNvCxnSpPr>
          <p:nvPr/>
        </p:nvCxnSpPr>
        <p:spPr>
          <a:xfrm>
            <a:off x="1923988" y="4748913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A2B42F1-4FB5-0069-53C1-C0C6FF61E834}"/>
              </a:ext>
            </a:extLst>
          </p:cNvPr>
          <p:cNvSpPr txBox="1"/>
          <p:nvPr/>
        </p:nvSpPr>
        <p:spPr>
          <a:xfrm>
            <a:off x="2087689" y="4441136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8164AFE-529B-FEC4-4B7B-0BA4175A8F25}"/>
              </a:ext>
            </a:extLst>
          </p:cNvPr>
          <p:cNvCxnSpPr>
            <a:cxnSpLocks/>
            <a:stCxn id="115" idx="3"/>
          </p:cNvCxnSpPr>
          <p:nvPr/>
        </p:nvCxnSpPr>
        <p:spPr>
          <a:xfrm>
            <a:off x="4348633" y="4748913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99461DA4-5A11-1082-75ED-1DC33CE33D3B}"/>
              </a:ext>
            </a:extLst>
          </p:cNvPr>
          <p:cNvSpPr txBox="1"/>
          <p:nvPr/>
        </p:nvSpPr>
        <p:spPr>
          <a:xfrm>
            <a:off x="3520197" y="5228447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738FF81-3914-A7C7-6335-8FCCEBC8A81D}"/>
              </a:ext>
            </a:extLst>
          </p:cNvPr>
          <p:cNvSpPr txBox="1"/>
          <p:nvPr/>
        </p:nvSpPr>
        <p:spPr>
          <a:xfrm>
            <a:off x="4362752" y="4439850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BA6604C-5108-7BF2-9280-51B8CA5D04B1}"/>
              </a:ext>
            </a:extLst>
          </p:cNvPr>
          <p:cNvCxnSpPr>
            <a:cxnSpLocks/>
          </p:cNvCxnSpPr>
          <p:nvPr/>
        </p:nvCxnSpPr>
        <p:spPr>
          <a:xfrm>
            <a:off x="3515702" y="5141691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2B7E6DEF-0368-26E8-D9A9-26233452A2E6}"/>
              </a:ext>
            </a:extLst>
          </p:cNvPr>
          <p:cNvCxnSpPr>
            <a:cxnSpLocks/>
          </p:cNvCxnSpPr>
          <p:nvPr/>
        </p:nvCxnSpPr>
        <p:spPr>
          <a:xfrm>
            <a:off x="1068870" y="4968763"/>
            <a:ext cx="3948581" cy="3760076"/>
          </a:xfrm>
          <a:prstGeom prst="bentConnector3">
            <a:avLst>
              <a:gd name="adj1" fmla="val 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39CD33D3-758D-1308-72F3-55733688F99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52563" y="2350604"/>
            <a:ext cx="1545956" cy="581108"/>
          </a:xfrm>
          <a:prstGeom prst="bentConnector3">
            <a:avLst>
              <a:gd name="adj1" fmla="val -7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49A4F806-9343-E05A-5D62-A7E3677CA7A3}"/>
              </a:ext>
            </a:extLst>
          </p:cNvPr>
          <p:cNvSpPr txBox="1"/>
          <p:nvPr/>
        </p:nvSpPr>
        <p:spPr>
          <a:xfrm>
            <a:off x="29871" y="1183304"/>
            <a:ext cx="2168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Does the survey report…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D15973A6-E8DB-29CB-0713-6E5642877926}"/>
              </a:ext>
            </a:extLst>
          </p:cNvPr>
          <p:cNvCxnSpPr>
            <a:cxnSpLocks/>
            <a:stCxn id="108" idx="2"/>
          </p:cNvCxnSpPr>
          <p:nvPr/>
        </p:nvCxnSpPr>
        <p:spPr>
          <a:xfrm rot="16200000" flipH="1">
            <a:off x="3995804" y="7311799"/>
            <a:ext cx="569630" cy="14974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7B361550-BCFE-50FF-52C3-73DB4DCE68A3}"/>
              </a:ext>
            </a:extLst>
          </p:cNvPr>
          <p:cNvSpPr txBox="1"/>
          <p:nvPr/>
        </p:nvSpPr>
        <p:spPr>
          <a:xfrm>
            <a:off x="6720846" y="1636548"/>
            <a:ext cx="793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29</a:t>
            </a:r>
          </a:p>
          <a:p>
            <a:pPr algn="ctr"/>
            <a:r>
              <a:rPr lang="en-US" sz="1200" b="1" dirty="0"/>
              <a:t>surveys</a:t>
            </a:r>
            <a:br>
              <a:rPr lang="en-US" sz="1200" b="1" dirty="0"/>
            </a:br>
            <a:r>
              <a:rPr lang="en-US" sz="1200" b="1" dirty="0"/>
              <a:t>included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BC49898-A4AF-438F-5C87-B5F0DD885A85}"/>
              </a:ext>
            </a:extLst>
          </p:cNvPr>
          <p:cNvSpPr txBox="1"/>
          <p:nvPr/>
        </p:nvSpPr>
        <p:spPr>
          <a:xfrm>
            <a:off x="6689702" y="3061226"/>
            <a:ext cx="793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</a:t>
            </a:r>
          </a:p>
          <a:p>
            <a:pPr algn="ctr"/>
            <a:r>
              <a:rPr lang="en-US" sz="1200" b="1" dirty="0"/>
              <a:t>surveys</a:t>
            </a:r>
            <a:br>
              <a:rPr lang="en-US" sz="1200" b="1" dirty="0"/>
            </a:br>
            <a:r>
              <a:rPr lang="en-US" sz="1200" b="1" dirty="0"/>
              <a:t>included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D2B80BA-189D-2BAE-EC9A-14FF8D93C1CB}"/>
              </a:ext>
            </a:extLst>
          </p:cNvPr>
          <p:cNvSpPr txBox="1"/>
          <p:nvPr/>
        </p:nvSpPr>
        <p:spPr>
          <a:xfrm>
            <a:off x="6682772" y="4414687"/>
            <a:ext cx="793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</a:t>
            </a:r>
          </a:p>
          <a:p>
            <a:pPr algn="ctr"/>
            <a:r>
              <a:rPr lang="en-US" sz="1200" b="1" dirty="0"/>
              <a:t>surveys</a:t>
            </a:r>
            <a:br>
              <a:rPr lang="en-US" sz="1200" b="1" dirty="0"/>
            </a:br>
            <a:r>
              <a:rPr lang="en-US" sz="1200" b="1" dirty="0"/>
              <a:t>included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9CC0F5A-DE04-26D3-9366-C39E4D260E86}"/>
              </a:ext>
            </a:extLst>
          </p:cNvPr>
          <p:cNvSpPr txBox="1"/>
          <p:nvPr/>
        </p:nvSpPr>
        <p:spPr>
          <a:xfrm>
            <a:off x="6727730" y="5637358"/>
            <a:ext cx="793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0</a:t>
            </a:r>
          </a:p>
          <a:p>
            <a:pPr algn="ctr"/>
            <a:r>
              <a:rPr lang="en-US" sz="1200" b="1" dirty="0"/>
              <a:t>surveys</a:t>
            </a:r>
            <a:br>
              <a:rPr lang="en-US" sz="1200" b="1" dirty="0"/>
            </a:br>
            <a:r>
              <a:rPr lang="en-US" sz="1200" b="1" dirty="0"/>
              <a:t>included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39EE8CD-1923-0C30-CAFB-7970D674A0AA}"/>
              </a:ext>
            </a:extLst>
          </p:cNvPr>
          <p:cNvSpPr txBox="1"/>
          <p:nvPr/>
        </p:nvSpPr>
        <p:spPr>
          <a:xfrm>
            <a:off x="6720845" y="6947802"/>
            <a:ext cx="793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</a:t>
            </a:r>
          </a:p>
          <a:p>
            <a:pPr algn="ctr"/>
            <a:r>
              <a:rPr lang="en-US" sz="1200" b="1" dirty="0"/>
              <a:t>survey</a:t>
            </a:r>
            <a:br>
              <a:rPr lang="en-US" sz="1200" b="1" dirty="0"/>
            </a:br>
            <a:r>
              <a:rPr lang="en-US" sz="1200" b="1" dirty="0"/>
              <a:t>included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EF349C9-6635-0074-638B-232F5EF153EF}"/>
              </a:ext>
            </a:extLst>
          </p:cNvPr>
          <p:cNvSpPr txBox="1"/>
          <p:nvPr/>
        </p:nvSpPr>
        <p:spPr>
          <a:xfrm>
            <a:off x="6734847" y="8103034"/>
            <a:ext cx="84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</a:p>
          <a:p>
            <a:pPr algn="ctr"/>
            <a:r>
              <a:rPr lang="en-US" sz="1200" b="1" dirty="0"/>
              <a:t>surveys</a:t>
            </a:r>
            <a:br>
              <a:rPr lang="en-US" sz="1200" b="1" dirty="0"/>
            </a:br>
            <a:r>
              <a:rPr lang="en-US" sz="1200" b="1" dirty="0"/>
              <a:t>excluded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FE6CD-474B-6CE3-6185-67BF536A65BB}"/>
              </a:ext>
            </a:extLst>
          </p:cNvPr>
          <p:cNvSpPr txBox="1"/>
          <p:nvPr/>
        </p:nvSpPr>
        <p:spPr>
          <a:xfrm>
            <a:off x="4888705" y="9246299"/>
            <a:ext cx="2654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64 surveys total included</a:t>
            </a:r>
          </a:p>
        </p:txBody>
      </p:sp>
    </p:spTree>
    <p:extLst>
      <p:ext uri="{BB962C8B-B14F-4D97-AF65-F5344CB8AC3E}">
        <p14:creationId xmlns:p14="http://schemas.microsoft.com/office/powerpoint/2010/main" val="135499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1306</TotalTime>
  <Words>624</Words>
  <Application>Microsoft Macintosh PowerPoint</Application>
  <PresentationFormat>Custom</PresentationFormat>
  <Paragraphs>110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MacPherson</dc:creator>
  <cp:lastModifiedBy>Swartwood, Nicole Anne</cp:lastModifiedBy>
  <cp:revision>17</cp:revision>
  <dcterms:created xsi:type="dcterms:W3CDTF">2024-09-06T14:00:09Z</dcterms:created>
  <dcterms:modified xsi:type="dcterms:W3CDTF">2026-03-10T12:52:41Z</dcterms:modified>
</cp:coreProperties>
</file>