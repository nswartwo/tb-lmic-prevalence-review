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4"/>
  </p:notesMasterIdLst>
  <p:sldIdLst>
    <p:sldId id="259" r:id="rId2"/>
    <p:sldId id="257" r:id="rId3"/>
  </p:sldIdLst>
  <p:sldSz cx="82296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120"/>
    <p:restoredTop sz="96512"/>
  </p:normalViewPr>
  <p:slideViewPr>
    <p:cSldViewPr snapToGrid="0">
      <p:cViewPr>
        <p:scale>
          <a:sx n="123" d="100"/>
          <a:sy n="123" d="100"/>
        </p:scale>
        <p:origin x="182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741E12-3080-894E-8286-9EAD400DCC7E}" type="datetimeFigureOut">
              <a:rPr lang="en-US" smtClean="0"/>
              <a:t>12/31/25</a:t>
            </a:fld>
            <a:endParaRPr lang="en-US"/>
          </a:p>
        </p:txBody>
      </p:sp>
      <p:sp>
        <p:nvSpPr>
          <p:cNvPr id="4" name="Slide Image Placeholder 3"/>
          <p:cNvSpPr>
            <a:spLocks noGrp="1" noRot="1" noChangeAspect="1"/>
          </p:cNvSpPr>
          <p:nvPr>
            <p:ph type="sldImg" idx="2"/>
          </p:nvPr>
        </p:nvSpPr>
        <p:spPr>
          <a:xfrm>
            <a:off x="2166938" y="1143000"/>
            <a:ext cx="25241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61F0BA-CE5D-8247-BCB6-950E93003CB6}" type="slidenum">
              <a:rPr lang="en-US" smtClean="0"/>
              <a:t>‹#›</a:t>
            </a:fld>
            <a:endParaRPr lang="en-US"/>
          </a:p>
        </p:txBody>
      </p:sp>
    </p:spTree>
    <p:extLst>
      <p:ext uri="{BB962C8B-B14F-4D97-AF65-F5344CB8AC3E}">
        <p14:creationId xmlns:p14="http://schemas.microsoft.com/office/powerpoint/2010/main" val="2097051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9D68F-BA55-0E5F-BF90-FBEE2631E3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91A24D-B501-5783-AB0D-2D8133BADB17}"/>
              </a:ext>
            </a:extLst>
          </p:cNvPr>
          <p:cNvSpPr>
            <a:spLocks noGrp="1" noRot="1" noChangeAspect="1"/>
          </p:cNvSpPr>
          <p:nvPr>
            <p:ph type="sldImg"/>
          </p:nvPr>
        </p:nvSpPr>
        <p:spPr>
          <a:xfrm>
            <a:off x="2166938" y="1143000"/>
            <a:ext cx="2524125" cy="3086100"/>
          </a:xfrm>
        </p:spPr>
      </p:sp>
      <p:sp>
        <p:nvSpPr>
          <p:cNvPr id="3" name="Notes Placeholder 2">
            <a:extLst>
              <a:ext uri="{FF2B5EF4-FFF2-40B4-BE49-F238E27FC236}">
                <a16:creationId xmlns:a16="http://schemas.microsoft.com/office/drawing/2014/main" id="{1AD388F1-5F27-B367-3577-6C56875BB58B}"/>
              </a:ext>
            </a:extLst>
          </p:cNvPr>
          <p:cNvSpPr>
            <a:spLocks noGrp="1"/>
          </p:cNvSpPr>
          <p:nvPr>
            <p:ph type="body" idx="1"/>
          </p:nvPr>
        </p:nvSpPr>
        <p:spPr/>
        <p:txBody>
          <a:bodyPr/>
          <a:lstStyle/>
          <a:p>
            <a:r>
              <a:rPr lang="en-US" dirty="0"/>
              <a:t>“Based on study definition of bact. positive”</a:t>
            </a:r>
          </a:p>
          <a:p>
            <a:r>
              <a:rPr lang="en-US" dirty="0"/>
              <a:t>46 with adjusted prevalence; only 43 with confidence intervals</a:t>
            </a:r>
          </a:p>
          <a:p>
            <a:r>
              <a:rPr lang="en-US" dirty="0"/>
              <a:t>14 with prevalence; 9 with confidence intervals</a:t>
            </a:r>
          </a:p>
          <a:p>
            <a:r>
              <a:rPr lang="en-US" dirty="0"/>
              <a:t>13 with counts of TB; 12 with participant counts</a:t>
            </a:r>
          </a:p>
          <a:p>
            <a:endParaRPr lang="en-US" dirty="0"/>
          </a:p>
          <a:p>
            <a:endParaRPr lang="en-US" dirty="0"/>
          </a:p>
        </p:txBody>
      </p:sp>
      <p:sp>
        <p:nvSpPr>
          <p:cNvPr id="4" name="Slide Number Placeholder 3">
            <a:extLst>
              <a:ext uri="{FF2B5EF4-FFF2-40B4-BE49-F238E27FC236}">
                <a16:creationId xmlns:a16="http://schemas.microsoft.com/office/drawing/2014/main" id="{D91CE93D-2CB4-F1F9-734D-E22273BA8306}"/>
              </a:ext>
            </a:extLst>
          </p:cNvPr>
          <p:cNvSpPr>
            <a:spLocks noGrp="1"/>
          </p:cNvSpPr>
          <p:nvPr>
            <p:ph type="sldNum" sz="quarter" idx="5"/>
          </p:nvPr>
        </p:nvSpPr>
        <p:spPr/>
        <p:txBody>
          <a:bodyPr/>
          <a:lstStyle/>
          <a:p>
            <a:fld id="{8C61F0BA-CE5D-8247-BCB6-950E93003CB6}" type="slidenum">
              <a:rPr lang="en-US" smtClean="0"/>
              <a:t>1</a:t>
            </a:fld>
            <a:endParaRPr lang="en-US"/>
          </a:p>
        </p:txBody>
      </p:sp>
    </p:spTree>
    <p:extLst>
      <p:ext uri="{BB962C8B-B14F-4D97-AF65-F5344CB8AC3E}">
        <p14:creationId xmlns:p14="http://schemas.microsoft.com/office/powerpoint/2010/main" val="11759001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EAE5B-BC70-421D-4E6F-92BA6F69E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5ABA8D-F509-A469-C345-3839A642BE02}"/>
              </a:ext>
            </a:extLst>
          </p:cNvPr>
          <p:cNvSpPr>
            <a:spLocks noGrp="1" noRot="1" noChangeAspect="1"/>
          </p:cNvSpPr>
          <p:nvPr>
            <p:ph type="sldImg"/>
          </p:nvPr>
        </p:nvSpPr>
        <p:spPr>
          <a:xfrm>
            <a:off x="2166938" y="1143000"/>
            <a:ext cx="2524125" cy="3086100"/>
          </a:xfrm>
        </p:spPr>
      </p:sp>
      <p:sp>
        <p:nvSpPr>
          <p:cNvPr id="3" name="Notes Placeholder 2">
            <a:extLst>
              <a:ext uri="{FF2B5EF4-FFF2-40B4-BE49-F238E27FC236}">
                <a16:creationId xmlns:a16="http://schemas.microsoft.com/office/drawing/2014/main" id="{26006C3F-A748-45AE-9850-D45E3345894D}"/>
              </a:ext>
            </a:extLst>
          </p:cNvPr>
          <p:cNvSpPr>
            <a:spLocks noGrp="1"/>
          </p:cNvSpPr>
          <p:nvPr>
            <p:ph type="body" idx="1"/>
          </p:nvPr>
        </p:nvSpPr>
        <p:spPr/>
        <p:txBody>
          <a:bodyPr/>
          <a:lstStyle/>
          <a:p>
            <a:r>
              <a:rPr lang="en-US" dirty="0"/>
              <a:t>“Based on study definition of bact. positive”</a:t>
            </a:r>
          </a:p>
          <a:p>
            <a:r>
              <a:rPr lang="en-US" dirty="0"/>
              <a:t>46 with adjusted prevalence; only 43 with confidence intervals</a:t>
            </a:r>
          </a:p>
          <a:p>
            <a:r>
              <a:rPr lang="en-US" dirty="0"/>
              <a:t>14 with prevalence; 9 with confidence intervals</a:t>
            </a:r>
          </a:p>
          <a:p>
            <a:r>
              <a:rPr lang="en-US" dirty="0"/>
              <a:t>13 with counts of TB; 12 with participant counts</a:t>
            </a:r>
          </a:p>
          <a:p>
            <a:endParaRPr lang="en-US" dirty="0"/>
          </a:p>
          <a:p>
            <a:endParaRPr lang="en-US" dirty="0"/>
          </a:p>
        </p:txBody>
      </p:sp>
      <p:sp>
        <p:nvSpPr>
          <p:cNvPr id="4" name="Slide Number Placeholder 3">
            <a:extLst>
              <a:ext uri="{FF2B5EF4-FFF2-40B4-BE49-F238E27FC236}">
                <a16:creationId xmlns:a16="http://schemas.microsoft.com/office/drawing/2014/main" id="{6A01DCF4-88A8-12C2-D039-E15D13362443}"/>
              </a:ext>
            </a:extLst>
          </p:cNvPr>
          <p:cNvSpPr>
            <a:spLocks noGrp="1"/>
          </p:cNvSpPr>
          <p:nvPr>
            <p:ph type="sldNum" sz="quarter" idx="5"/>
          </p:nvPr>
        </p:nvSpPr>
        <p:spPr/>
        <p:txBody>
          <a:bodyPr/>
          <a:lstStyle/>
          <a:p>
            <a:fld id="{8C61F0BA-CE5D-8247-BCB6-950E93003CB6}" type="slidenum">
              <a:rPr lang="en-US" smtClean="0"/>
              <a:t>2</a:t>
            </a:fld>
            <a:endParaRPr lang="en-US"/>
          </a:p>
        </p:txBody>
      </p:sp>
    </p:spTree>
    <p:extLst>
      <p:ext uri="{BB962C8B-B14F-4D97-AF65-F5344CB8AC3E}">
        <p14:creationId xmlns:p14="http://schemas.microsoft.com/office/powerpoint/2010/main" val="42380362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17220" y="1646133"/>
            <a:ext cx="6995160" cy="3501813"/>
          </a:xfrm>
        </p:spPr>
        <p:txBody>
          <a:bodyPr anchor="b"/>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028700" y="5282989"/>
            <a:ext cx="6172200" cy="2428451"/>
          </a:xfrm>
        </p:spPr>
        <p:txBody>
          <a:bodyPr/>
          <a:lstStyle>
            <a:lvl1pPr marL="0" indent="0" algn="ctr">
              <a:buNone/>
              <a:defRPr sz="2160"/>
            </a:lvl1pPr>
            <a:lvl2pPr marL="411480" indent="0" algn="ctr">
              <a:buNone/>
              <a:defRPr sz="180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9E70C8-8152-AA42-B231-9775CDC57791}" type="datetimeFigureOut">
              <a:rPr lang="en-US" smtClean="0"/>
              <a:t>12/31/25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2ED502-5BE2-8A4E-8FF9-CEAEDD904364}" type="slidenum">
              <a:rPr lang="en-US" smtClean="0"/>
              <a:t>‹#›</a:t>
            </a:fld>
            <a:endParaRPr lang="en-US"/>
          </a:p>
        </p:txBody>
      </p:sp>
    </p:spTree>
    <p:extLst>
      <p:ext uri="{BB962C8B-B14F-4D97-AF65-F5344CB8AC3E}">
        <p14:creationId xmlns:p14="http://schemas.microsoft.com/office/powerpoint/2010/main" val="3157135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9E70C8-8152-AA42-B231-9775CDC57791}" type="datetimeFigureOut">
              <a:rPr lang="en-US" smtClean="0"/>
              <a:t>12/31/25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2ED502-5BE2-8A4E-8FF9-CEAEDD904364}" type="slidenum">
              <a:rPr lang="en-US" smtClean="0"/>
              <a:t>‹#›</a:t>
            </a:fld>
            <a:endParaRPr lang="en-US"/>
          </a:p>
        </p:txBody>
      </p:sp>
    </p:spTree>
    <p:extLst>
      <p:ext uri="{BB962C8B-B14F-4D97-AF65-F5344CB8AC3E}">
        <p14:creationId xmlns:p14="http://schemas.microsoft.com/office/powerpoint/2010/main" val="730278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61499" y="2507618"/>
            <a:ext cx="7098030" cy="4184014"/>
          </a:xfrm>
        </p:spPr>
        <p:txBody>
          <a:bodyPr anchor="b"/>
          <a:lstStyle>
            <a:lvl1pPr>
              <a:defRPr sz="5400"/>
            </a:lvl1pPr>
          </a:lstStyle>
          <a:p>
            <a:r>
              <a:rPr lang="en-US"/>
              <a:t>Click to edit Master title style</a:t>
            </a:r>
            <a:endParaRPr lang="en-US" dirty="0"/>
          </a:p>
        </p:txBody>
      </p:sp>
      <p:sp>
        <p:nvSpPr>
          <p:cNvPr id="3" name="Text Placeholder 2"/>
          <p:cNvSpPr>
            <a:spLocks noGrp="1"/>
          </p:cNvSpPr>
          <p:nvPr>
            <p:ph type="body" idx="1"/>
          </p:nvPr>
        </p:nvSpPr>
        <p:spPr>
          <a:xfrm>
            <a:off x="561499" y="6731215"/>
            <a:ext cx="7098030" cy="2200274"/>
          </a:xfrm>
        </p:spPr>
        <p:txBody>
          <a:bodyPr/>
          <a:lstStyle>
            <a:lvl1pPr marL="0" indent="0">
              <a:buNone/>
              <a:defRPr sz="2160">
                <a:solidFill>
                  <a:schemeClr val="tx1">
                    <a:tint val="82000"/>
                  </a:schemeClr>
                </a:solidFill>
              </a:defRPr>
            </a:lvl1pPr>
            <a:lvl2pPr marL="411480" indent="0">
              <a:buNone/>
              <a:defRPr sz="1800">
                <a:solidFill>
                  <a:schemeClr val="tx1">
                    <a:tint val="82000"/>
                  </a:schemeClr>
                </a:solidFill>
              </a:defRPr>
            </a:lvl2pPr>
            <a:lvl3pPr marL="822960" indent="0">
              <a:buNone/>
              <a:defRPr sz="1620">
                <a:solidFill>
                  <a:schemeClr val="tx1">
                    <a:tint val="82000"/>
                  </a:schemeClr>
                </a:solidFill>
              </a:defRPr>
            </a:lvl3pPr>
            <a:lvl4pPr marL="1234440" indent="0">
              <a:buNone/>
              <a:defRPr sz="1440">
                <a:solidFill>
                  <a:schemeClr val="tx1">
                    <a:tint val="82000"/>
                  </a:schemeClr>
                </a:solidFill>
              </a:defRPr>
            </a:lvl4pPr>
            <a:lvl5pPr marL="1645920" indent="0">
              <a:buNone/>
              <a:defRPr sz="1440">
                <a:solidFill>
                  <a:schemeClr val="tx1">
                    <a:tint val="82000"/>
                  </a:schemeClr>
                </a:solidFill>
              </a:defRPr>
            </a:lvl5pPr>
            <a:lvl6pPr marL="2057400" indent="0">
              <a:buNone/>
              <a:defRPr sz="1440">
                <a:solidFill>
                  <a:schemeClr val="tx1">
                    <a:tint val="82000"/>
                  </a:schemeClr>
                </a:solidFill>
              </a:defRPr>
            </a:lvl6pPr>
            <a:lvl7pPr marL="2468880" indent="0">
              <a:buNone/>
              <a:defRPr sz="1440">
                <a:solidFill>
                  <a:schemeClr val="tx1">
                    <a:tint val="82000"/>
                  </a:schemeClr>
                </a:solidFill>
              </a:defRPr>
            </a:lvl7pPr>
            <a:lvl8pPr marL="2880360" indent="0">
              <a:buNone/>
              <a:defRPr sz="1440">
                <a:solidFill>
                  <a:schemeClr val="tx1">
                    <a:tint val="82000"/>
                  </a:schemeClr>
                </a:solidFill>
              </a:defRPr>
            </a:lvl8pPr>
            <a:lvl9pPr marL="3291840" indent="0">
              <a:buNone/>
              <a:defRPr sz="144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9E70C8-8152-AA42-B231-9775CDC57791}" type="datetimeFigureOut">
              <a:rPr lang="en-US" smtClean="0"/>
              <a:t>12/31/25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2ED502-5BE2-8A4E-8FF9-CEAEDD904364}" type="slidenum">
              <a:rPr lang="en-US" smtClean="0"/>
              <a:t>‹#›</a:t>
            </a:fld>
            <a:endParaRPr lang="en-US"/>
          </a:p>
        </p:txBody>
      </p:sp>
    </p:spTree>
    <p:extLst>
      <p:ext uri="{BB962C8B-B14F-4D97-AF65-F5344CB8AC3E}">
        <p14:creationId xmlns:p14="http://schemas.microsoft.com/office/powerpoint/2010/main" val="3273583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65785" y="2677584"/>
            <a:ext cx="349758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166235" y="2677584"/>
            <a:ext cx="349758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9E70C8-8152-AA42-B231-9775CDC57791}" type="datetimeFigureOut">
              <a:rPr lang="en-US" smtClean="0"/>
              <a:t>12/31/25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2ED502-5BE2-8A4E-8FF9-CEAEDD904364}" type="slidenum">
              <a:rPr lang="en-US" smtClean="0"/>
              <a:t>‹#›</a:t>
            </a:fld>
            <a:endParaRPr lang="en-US"/>
          </a:p>
        </p:txBody>
      </p:sp>
    </p:spTree>
    <p:extLst>
      <p:ext uri="{BB962C8B-B14F-4D97-AF65-F5344CB8AC3E}">
        <p14:creationId xmlns:p14="http://schemas.microsoft.com/office/powerpoint/2010/main" val="599601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66857" y="535519"/>
            <a:ext cx="7098030" cy="1944159"/>
          </a:xfrm>
        </p:spPr>
        <p:txBody>
          <a:bodyPr/>
          <a:lstStyle/>
          <a:p>
            <a:r>
              <a:rPr lang="en-US"/>
              <a:t>Click to edit Master title style</a:t>
            </a:r>
            <a:endParaRPr lang="en-US" dirty="0"/>
          </a:p>
        </p:txBody>
      </p:sp>
      <p:sp>
        <p:nvSpPr>
          <p:cNvPr id="3" name="Text Placeholder 2"/>
          <p:cNvSpPr>
            <a:spLocks noGrp="1"/>
          </p:cNvSpPr>
          <p:nvPr>
            <p:ph type="body" idx="1"/>
          </p:nvPr>
        </p:nvSpPr>
        <p:spPr>
          <a:xfrm>
            <a:off x="566858" y="2465706"/>
            <a:ext cx="3481506" cy="1208404"/>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4" name="Content Placeholder 3"/>
          <p:cNvSpPr>
            <a:spLocks noGrp="1"/>
          </p:cNvSpPr>
          <p:nvPr>
            <p:ph sz="half" idx="2"/>
          </p:nvPr>
        </p:nvSpPr>
        <p:spPr>
          <a:xfrm>
            <a:off x="566858" y="3674110"/>
            <a:ext cx="3481506"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166235" y="2465706"/>
            <a:ext cx="3498652" cy="1208404"/>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6" name="Content Placeholder 5"/>
          <p:cNvSpPr>
            <a:spLocks noGrp="1"/>
          </p:cNvSpPr>
          <p:nvPr>
            <p:ph sz="quarter" idx="4"/>
          </p:nvPr>
        </p:nvSpPr>
        <p:spPr>
          <a:xfrm>
            <a:off x="4166235" y="3674110"/>
            <a:ext cx="3498652"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9E70C8-8152-AA42-B231-9775CDC57791}" type="datetimeFigureOut">
              <a:rPr lang="en-US" smtClean="0"/>
              <a:t>12/31/25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F2ED502-5BE2-8A4E-8FF9-CEAEDD904364}" type="slidenum">
              <a:rPr lang="en-US" smtClean="0"/>
              <a:t>‹#›</a:t>
            </a:fld>
            <a:endParaRPr lang="en-US"/>
          </a:p>
        </p:txBody>
      </p:sp>
    </p:spTree>
    <p:extLst>
      <p:ext uri="{BB962C8B-B14F-4D97-AF65-F5344CB8AC3E}">
        <p14:creationId xmlns:p14="http://schemas.microsoft.com/office/powerpoint/2010/main" val="1934505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9E70C8-8152-AA42-B231-9775CDC57791}" type="datetimeFigureOut">
              <a:rPr lang="en-US" smtClean="0"/>
              <a:t>12/31/25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F2ED502-5BE2-8A4E-8FF9-CEAEDD904364}" type="slidenum">
              <a:rPr lang="en-US" smtClean="0"/>
              <a:t>‹#›</a:t>
            </a:fld>
            <a:endParaRPr lang="en-US"/>
          </a:p>
        </p:txBody>
      </p:sp>
    </p:spTree>
    <p:extLst>
      <p:ext uri="{BB962C8B-B14F-4D97-AF65-F5344CB8AC3E}">
        <p14:creationId xmlns:p14="http://schemas.microsoft.com/office/powerpoint/2010/main" val="349769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9E70C8-8152-AA42-B231-9775CDC57791}" type="datetimeFigureOut">
              <a:rPr lang="en-US" smtClean="0"/>
              <a:t>12/31/25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F2ED502-5BE2-8A4E-8FF9-CEAEDD904364}" type="slidenum">
              <a:rPr lang="en-US" smtClean="0"/>
              <a:t>‹#›</a:t>
            </a:fld>
            <a:endParaRPr lang="en-US"/>
          </a:p>
        </p:txBody>
      </p:sp>
    </p:spTree>
    <p:extLst>
      <p:ext uri="{BB962C8B-B14F-4D97-AF65-F5344CB8AC3E}">
        <p14:creationId xmlns:p14="http://schemas.microsoft.com/office/powerpoint/2010/main" val="2151196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66857" y="670560"/>
            <a:ext cx="2654260" cy="2346960"/>
          </a:xfrm>
        </p:spPr>
        <p:txBody>
          <a:bodyPr anchor="b"/>
          <a:lstStyle>
            <a:lvl1pPr>
              <a:defRPr sz="2880"/>
            </a:lvl1pPr>
          </a:lstStyle>
          <a:p>
            <a:r>
              <a:rPr lang="en-US"/>
              <a:t>Click to edit Master title style</a:t>
            </a:r>
            <a:endParaRPr lang="en-US" dirty="0"/>
          </a:p>
        </p:txBody>
      </p:sp>
      <p:sp>
        <p:nvSpPr>
          <p:cNvPr id="3" name="Content Placeholder 2"/>
          <p:cNvSpPr>
            <a:spLocks noGrp="1"/>
          </p:cNvSpPr>
          <p:nvPr>
            <p:ph idx="1"/>
          </p:nvPr>
        </p:nvSpPr>
        <p:spPr>
          <a:xfrm>
            <a:off x="3498652" y="1448226"/>
            <a:ext cx="4166235" cy="7147983"/>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66857" y="3017520"/>
            <a:ext cx="2654260" cy="5590329"/>
          </a:xfrm>
        </p:spPr>
        <p:txBody>
          <a:bodyPr/>
          <a:lstStyle>
            <a:lvl1pPr marL="0" indent="0">
              <a:buNone/>
              <a:defRPr sz="144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79E70C8-8152-AA42-B231-9775CDC57791}" type="datetimeFigureOut">
              <a:rPr lang="en-US" smtClean="0"/>
              <a:t>12/31/25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2ED502-5BE2-8A4E-8FF9-CEAEDD904364}" type="slidenum">
              <a:rPr lang="en-US" smtClean="0"/>
              <a:t>‹#›</a:t>
            </a:fld>
            <a:endParaRPr lang="en-US"/>
          </a:p>
        </p:txBody>
      </p:sp>
    </p:spTree>
    <p:extLst>
      <p:ext uri="{BB962C8B-B14F-4D97-AF65-F5344CB8AC3E}">
        <p14:creationId xmlns:p14="http://schemas.microsoft.com/office/powerpoint/2010/main" val="7540991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66857" y="670560"/>
            <a:ext cx="2654260" cy="2346960"/>
          </a:xfrm>
        </p:spPr>
        <p:txBody>
          <a:bodyPr anchor="b"/>
          <a:lstStyle>
            <a:lvl1pPr>
              <a:defRPr sz="2880"/>
            </a:lvl1pPr>
          </a:lstStyle>
          <a:p>
            <a:r>
              <a:rPr lang="en-US"/>
              <a:t>Click to edit Master title style</a:t>
            </a:r>
            <a:endParaRPr lang="en-US" dirty="0"/>
          </a:p>
        </p:txBody>
      </p:sp>
      <p:sp>
        <p:nvSpPr>
          <p:cNvPr id="3" name="Picture Placeholder 2"/>
          <p:cNvSpPr>
            <a:spLocks noGrp="1" noChangeAspect="1"/>
          </p:cNvSpPr>
          <p:nvPr>
            <p:ph type="pic" idx="1"/>
          </p:nvPr>
        </p:nvSpPr>
        <p:spPr>
          <a:xfrm>
            <a:off x="3498652" y="1448226"/>
            <a:ext cx="4166235" cy="7147983"/>
          </a:xfrm>
        </p:spPr>
        <p:txBody>
          <a:bodyPr anchor="t"/>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r>
              <a:rPr lang="en-US"/>
              <a:t>Click icon to add picture</a:t>
            </a:r>
            <a:endParaRPr lang="en-US" dirty="0"/>
          </a:p>
        </p:txBody>
      </p:sp>
      <p:sp>
        <p:nvSpPr>
          <p:cNvPr id="4" name="Text Placeholder 3"/>
          <p:cNvSpPr>
            <a:spLocks noGrp="1"/>
          </p:cNvSpPr>
          <p:nvPr>
            <p:ph type="body" sz="half" idx="2"/>
          </p:nvPr>
        </p:nvSpPr>
        <p:spPr>
          <a:xfrm>
            <a:off x="566857" y="3017520"/>
            <a:ext cx="2654260" cy="5590329"/>
          </a:xfrm>
        </p:spPr>
        <p:txBody>
          <a:bodyPr/>
          <a:lstStyle>
            <a:lvl1pPr marL="0" indent="0">
              <a:buNone/>
              <a:defRPr sz="144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79E70C8-8152-AA42-B231-9775CDC57791}" type="datetimeFigureOut">
              <a:rPr lang="en-US" smtClean="0"/>
              <a:t>12/31/25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2ED502-5BE2-8A4E-8FF9-CEAEDD904364}" type="slidenum">
              <a:rPr lang="en-US" smtClean="0"/>
              <a:t>‹#›</a:t>
            </a:fld>
            <a:endParaRPr lang="en-US"/>
          </a:p>
        </p:txBody>
      </p:sp>
    </p:spTree>
    <p:extLst>
      <p:ext uri="{BB962C8B-B14F-4D97-AF65-F5344CB8AC3E}">
        <p14:creationId xmlns:p14="http://schemas.microsoft.com/office/powerpoint/2010/main" val="2219088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9E70C8-8152-AA42-B231-9775CDC57791}" type="datetimeFigureOut">
              <a:rPr lang="en-US" smtClean="0"/>
              <a:t>12/31/25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2ED502-5BE2-8A4E-8FF9-CEAEDD904364}" type="slidenum">
              <a:rPr lang="en-US" smtClean="0"/>
              <a:t>‹#›</a:t>
            </a:fld>
            <a:endParaRPr lang="en-US"/>
          </a:p>
        </p:txBody>
      </p:sp>
    </p:spTree>
    <p:extLst>
      <p:ext uri="{BB962C8B-B14F-4D97-AF65-F5344CB8AC3E}">
        <p14:creationId xmlns:p14="http://schemas.microsoft.com/office/powerpoint/2010/main" val="4175757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889308" y="535517"/>
            <a:ext cx="1774508" cy="852402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65785" y="535517"/>
            <a:ext cx="5220653" cy="85240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9E70C8-8152-AA42-B231-9775CDC57791}" type="datetimeFigureOut">
              <a:rPr lang="en-US" smtClean="0"/>
              <a:t>12/31/25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2ED502-5BE2-8A4E-8FF9-CEAEDD904364}" type="slidenum">
              <a:rPr lang="en-US" smtClean="0"/>
              <a:t>‹#›</a:t>
            </a:fld>
            <a:endParaRPr lang="en-US"/>
          </a:p>
        </p:txBody>
      </p:sp>
    </p:spTree>
    <p:extLst>
      <p:ext uri="{BB962C8B-B14F-4D97-AF65-F5344CB8AC3E}">
        <p14:creationId xmlns:p14="http://schemas.microsoft.com/office/powerpoint/2010/main" val="3223425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65785" y="535519"/>
            <a:ext cx="7098030" cy="194415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65785" y="2677584"/>
            <a:ext cx="7098030" cy="63819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5785" y="9322649"/>
            <a:ext cx="1851660" cy="535517"/>
          </a:xfrm>
          <a:prstGeom prst="rect">
            <a:avLst/>
          </a:prstGeom>
        </p:spPr>
        <p:txBody>
          <a:bodyPr vert="horz" lIns="91440" tIns="45720" rIns="91440" bIns="45720" rtlCol="0" anchor="ctr"/>
          <a:lstStyle>
            <a:lvl1pPr algn="l">
              <a:defRPr sz="1080">
                <a:solidFill>
                  <a:schemeClr val="tx1">
                    <a:tint val="82000"/>
                  </a:schemeClr>
                </a:solidFill>
              </a:defRPr>
            </a:lvl1pPr>
          </a:lstStyle>
          <a:p>
            <a:fld id="{579E70C8-8152-AA42-B231-9775CDC57791}" type="datetimeFigureOut">
              <a:rPr lang="en-US" smtClean="0"/>
              <a:t>12/31/25</a:t>
            </a:fld>
            <a:endParaRPr lang="en-US"/>
          </a:p>
        </p:txBody>
      </p:sp>
      <p:sp>
        <p:nvSpPr>
          <p:cNvPr id="5" name="Footer Placeholder 4"/>
          <p:cNvSpPr>
            <a:spLocks noGrp="1"/>
          </p:cNvSpPr>
          <p:nvPr>
            <p:ph type="ftr" sz="quarter" idx="3"/>
          </p:nvPr>
        </p:nvSpPr>
        <p:spPr>
          <a:xfrm>
            <a:off x="2726055" y="9322649"/>
            <a:ext cx="2777490" cy="535517"/>
          </a:xfrm>
          <a:prstGeom prst="rect">
            <a:avLst/>
          </a:prstGeom>
        </p:spPr>
        <p:txBody>
          <a:bodyPr vert="horz" lIns="91440" tIns="45720" rIns="91440" bIns="45720" rtlCol="0" anchor="ctr"/>
          <a:lstStyle>
            <a:lvl1pPr algn="ctr">
              <a:defRPr sz="108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5812155" y="9322649"/>
            <a:ext cx="1851660" cy="535517"/>
          </a:xfrm>
          <a:prstGeom prst="rect">
            <a:avLst/>
          </a:prstGeom>
        </p:spPr>
        <p:txBody>
          <a:bodyPr vert="horz" lIns="91440" tIns="45720" rIns="91440" bIns="45720" rtlCol="0" anchor="ctr"/>
          <a:lstStyle>
            <a:lvl1pPr algn="r">
              <a:defRPr sz="1080">
                <a:solidFill>
                  <a:schemeClr val="tx1">
                    <a:tint val="82000"/>
                  </a:schemeClr>
                </a:solidFill>
              </a:defRPr>
            </a:lvl1pPr>
          </a:lstStyle>
          <a:p>
            <a:fld id="{CF2ED502-5BE2-8A4E-8FF9-CEAEDD904364}" type="slidenum">
              <a:rPr lang="en-US" smtClean="0"/>
              <a:t>‹#›</a:t>
            </a:fld>
            <a:endParaRPr lang="en-US"/>
          </a:p>
        </p:txBody>
      </p:sp>
    </p:spTree>
    <p:extLst>
      <p:ext uri="{BB962C8B-B14F-4D97-AF65-F5344CB8AC3E}">
        <p14:creationId xmlns:p14="http://schemas.microsoft.com/office/powerpoint/2010/main" val="31311297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822960" rtl="0" eaLnBrk="1" latinLnBrk="0" hangingPunct="1">
        <a:lnSpc>
          <a:spcPct val="90000"/>
        </a:lnSpc>
        <a:spcBef>
          <a:spcPct val="0"/>
        </a:spcBef>
        <a:buNone/>
        <a:defRPr sz="3960" kern="1200">
          <a:solidFill>
            <a:schemeClr val="tx1"/>
          </a:solidFill>
          <a:latin typeface="+mj-lt"/>
          <a:ea typeface="+mj-ea"/>
          <a:cs typeface="+mj-cs"/>
        </a:defRPr>
      </a:lvl1pPr>
    </p:titleStyle>
    <p:bodyStyle>
      <a:lvl1pPr marL="205740" indent="-205740" algn="l" defTabSz="822960" rtl="0" eaLnBrk="1" latinLnBrk="0" hangingPunct="1">
        <a:lnSpc>
          <a:spcPct val="90000"/>
        </a:lnSpc>
        <a:spcBef>
          <a:spcPts val="900"/>
        </a:spcBef>
        <a:buFont typeface="Arial" panose="020B0604020202020204" pitchFamily="34" charset="0"/>
        <a:buChar char="•"/>
        <a:defRPr sz="2520" kern="1200">
          <a:solidFill>
            <a:schemeClr val="tx1"/>
          </a:solidFill>
          <a:latin typeface="+mn-lt"/>
          <a:ea typeface="+mn-ea"/>
          <a:cs typeface="+mn-cs"/>
        </a:defRPr>
      </a:lvl1pPr>
      <a:lvl2pPr marL="617220" indent="-205740" algn="l" defTabSz="822960" rtl="0" eaLnBrk="1" latinLnBrk="0" hangingPunct="1">
        <a:lnSpc>
          <a:spcPct val="90000"/>
        </a:lnSpc>
        <a:spcBef>
          <a:spcPts val="450"/>
        </a:spcBef>
        <a:buFont typeface="Arial" panose="020B0604020202020204" pitchFamily="34" charset="0"/>
        <a:buChar char="•"/>
        <a:defRPr sz="2160" kern="1200">
          <a:solidFill>
            <a:schemeClr val="tx1"/>
          </a:solidFill>
          <a:latin typeface="+mn-lt"/>
          <a:ea typeface="+mn-ea"/>
          <a:cs typeface="+mn-cs"/>
        </a:defRPr>
      </a:lvl2pPr>
      <a:lvl3pPr marL="1028700" indent="-205740" algn="l" defTabSz="822960" rtl="0" eaLnBrk="1" latinLnBrk="0" hangingPunct="1">
        <a:lnSpc>
          <a:spcPct val="90000"/>
        </a:lnSpc>
        <a:spcBef>
          <a:spcPts val="450"/>
        </a:spcBef>
        <a:buFont typeface="Arial" panose="020B0604020202020204" pitchFamily="34" charset="0"/>
        <a:buChar char="•"/>
        <a:defRPr sz="1800" kern="1200">
          <a:solidFill>
            <a:schemeClr val="tx1"/>
          </a:solidFill>
          <a:latin typeface="+mn-lt"/>
          <a:ea typeface="+mn-ea"/>
          <a:cs typeface="+mn-cs"/>
        </a:defRPr>
      </a:lvl3pPr>
      <a:lvl4pPr marL="14401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4pPr>
      <a:lvl5pPr marL="185166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5pPr>
      <a:lvl6pPr marL="226314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6pPr>
      <a:lvl7pPr marL="267462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7pPr>
      <a:lvl8pPr marL="308610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8pPr>
      <a:lvl9pPr marL="34975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26E60-0AC8-A0BA-4058-2D9898DC9AAC}"/>
            </a:ext>
          </a:extLst>
        </p:cNvPr>
        <p:cNvGrpSpPr/>
        <p:nvPr/>
      </p:nvGrpSpPr>
      <p:grpSpPr>
        <a:xfrm>
          <a:off x="0" y="0"/>
          <a:ext cx="0" cy="0"/>
          <a:chOff x="0" y="0"/>
          <a:chExt cx="0" cy="0"/>
        </a:xfrm>
      </p:grpSpPr>
      <p:sp>
        <p:nvSpPr>
          <p:cNvPr id="132" name="Rectangle 131">
            <a:extLst>
              <a:ext uri="{FF2B5EF4-FFF2-40B4-BE49-F238E27FC236}">
                <a16:creationId xmlns:a16="http://schemas.microsoft.com/office/drawing/2014/main" id="{D49A1483-C03E-55DB-9689-E3E79ADB86AE}"/>
              </a:ext>
            </a:extLst>
          </p:cNvPr>
          <p:cNvSpPr/>
          <p:nvPr/>
        </p:nvSpPr>
        <p:spPr>
          <a:xfrm>
            <a:off x="5056850" y="329188"/>
            <a:ext cx="3152605" cy="963586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6516DFD7-76FE-5CE8-8B1F-69DD070C006B}"/>
              </a:ext>
            </a:extLst>
          </p:cNvPr>
          <p:cNvCxnSpPr>
            <a:cxnSpLocks/>
            <a:stCxn id="40" idx="3"/>
            <a:endCxn id="41" idx="1"/>
          </p:cNvCxnSpPr>
          <p:nvPr/>
        </p:nvCxnSpPr>
        <p:spPr>
          <a:xfrm>
            <a:off x="2118811" y="1491438"/>
            <a:ext cx="71966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944D540E-4498-0C5F-04F3-EB661A7429AD}"/>
              </a:ext>
            </a:extLst>
          </p:cNvPr>
          <p:cNvCxnSpPr>
            <a:cxnSpLocks/>
          </p:cNvCxnSpPr>
          <p:nvPr/>
        </p:nvCxnSpPr>
        <p:spPr>
          <a:xfrm>
            <a:off x="1280611" y="1846620"/>
            <a:ext cx="0" cy="4182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5B83DE4A-8C18-1085-8734-857258627C62}"/>
              </a:ext>
            </a:extLst>
          </p:cNvPr>
          <p:cNvSpPr txBox="1"/>
          <p:nvPr/>
        </p:nvSpPr>
        <p:spPr>
          <a:xfrm>
            <a:off x="2253936" y="1183660"/>
            <a:ext cx="503634" cy="307777"/>
          </a:xfrm>
          <a:prstGeom prst="rect">
            <a:avLst/>
          </a:prstGeom>
          <a:noFill/>
        </p:spPr>
        <p:txBody>
          <a:bodyPr wrap="square" rtlCol="0">
            <a:spAutoFit/>
          </a:bodyPr>
          <a:lstStyle/>
          <a:p>
            <a:r>
              <a:rPr lang="en-US" sz="1400" b="1" dirty="0">
                <a:solidFill>
                  <a:schemeClr val="accent6"/>
                </a:solidFill>
              </a:rPr>
              <a:t>Yes</a:t>
            </a:r>
          </a:p>
        </p:txBody>
      </p:sp>
      <p:sp>
        <p:nvSpPr>
          <p:cNvPr id="57" name="TextBox 56">
            <a:extLst>
              <a:ext uri="{FF2B5EF4-FFF2-40B4-BE49-F238E27FC236}">
                <a16:creationId xmlns:a16="http://schemas.microsoft.com/office/drawing/2014/main" id="{3BE3F452-DB54-C054-D4E1-D540F32D1AED}"/>
              </a:ext>
            </a:extLst>
          </p:cNvPr>
          <p:cNvSpPr txBox="1"/>
          <p:nvPr/>
        </p:nvSpPr>
        <p:spPr>
          <a:xfrm>
            <a:off x="4568654" y="1183659"/>
            <a:ext cx="449229" cy="307777"/>
          </a:xfrm>
          <a:prstGeom prst="rect">
            <a:avLst/>
          </a:prstGeom>
          <a:noFill/>
        </p:spPr>
        <p:txBody>
          <a:bodyPr wrap="square" rtlCol="0">
            <a:spAutoFit/>
          </a:bodyPr>
          <a:lstStyle/>
          <a:p>
            <a:r>
              <a:rPr lang="en-US" sz="1400" b="1" dirty="0">
                <a:solidFill>
                  <a:srgbClr val="FF0000"/>
                </a:solidFill>
              </a:rPr>
              <a:t>No</a:t>
            </a:r>
          </a:p>
        </p:txBody>
      </p:sp>
      <p:cxnSp>
        <p:nvCxnSpPr>
          <p:cNvPr id="62" name="Straight Arrow Connector 61">
            <a:extLst>
              <a:ext uri="{FF2B5EF4-FFF2-40B4-BE49-F238E27FC236}">
                <a16:creationId xmlns:a16="http://schemas.microsoft.com/office/drawing/2014/main" id="{58AA7AF8-24C4-C108-675F-658B7394D636}"/>
              </a:ext>
            </a:extLst>
          </p:cNvPr>
          <p:cNvCxnSpPr>
            <a:cxnSpLocks/>
            <a:stCxn id="41" idx="3"/>
            <a:endCxn id="63" idx="1"/>
          </p:cNvCxnSpPr>
          <p:nvPr/>
        </p:nvCxnSpPr>
        <p:spPr>
          <a:xfrm>
            <a:off x="4514880" y="1491438"/>
            <a:ext cx="65774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3" name="Rounded Rectangle 62">
            <a:extLst>
              <a:ext uri="{FF2B5EF4-FFF2-40B4-BE49-F238E27FC236}">
                <a16:creationId xmlns:a16="http://schemas.microsoft.com/office/drawing/2014/main" id="{75E97B5B-320B-C586-74C8-9F657BBD94C4}"/>
              </a:ext>
            </a:extLst>
          </p:cNvPr>
          <p:cNvSpPr/>
          <p:nvPr/>
        </p:nvSpPr>
        <p:spPr>
          <a:xfrm>
            <a:off x="5172620" y="1063024"/>
            <a:ext cx="1676400" cy="8568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Use these “adjusted prevalence estimates (per 100,000)” with 95% confidence intervals.</a:t>
            </a:r>
          </a:p>
        </p:txBody>
      </p:sp>
      <p:sp>
        <p:nvSpPr>
          <p:cNvPr id="64" name="TextBox 63">
            <a:extLst>
              <a:ext uri="{FF2B5EF4-FFF2-40B4-BE49-F238E27FC236}">
                <a16:creationId xmlns:a16="http://schemas.microsoft.com/office/drawing/2014/main" id="{A9D4D73A-42D3-B395-3C73-60A428C76AE3}"/>
              </a:ext>
            </a:extLst>
          </p:cNvPr>
          <p:cNvSpPr txBox="1"/>
          <p:nvPr/>
        </p:nvSpPr>
        <p:spPr>
          <a:xfrm>
            <a:off x="1355453" y="1934418"/>
            <a:ext cx="449229" cy="307777"/>
          </a:xfrm>
          <a:prstGeom prst="rect">
            <a:avLst/>
          </a:prstGeom>
          <a:noFill/>
        </p:spPr>
        <p:txBody>
          <a:bodyPr wrap="square" rtlCol="0">
            <a:spAutoFit/>
          </a:bodyPr>
          <a:lstStyle/>
          <a:p>
            <a:r>
              <a:rPr lang="en-US" sz="1400" b="1" dirty="0">
                <a:solidFill>
                  <a:srgbClr val="FF0000"/>
                </a:solidFill>
              </a:rPr>
              <a:t>No</a:t>
            </a:r>
          </a:p>
        </p:txBody>
      </p:sp>
      <p:sp>
        <p:nvSpPr>
          <p:cNvPr id="65" name="Rounded Rectangle 64">
            <a:extLst>
              <a:ext uri="{FF2B5EF4-FFF2-40B4-BE49-F238E27FC236}">
                <a16:creationId xmlns:a16="http://schemas.microsoft.com/office/drawing/2014/main" id="{1DFB4F40-5AD3-4476-DB4D-2CB5755389B3}"/>
              </a:ext>
            </a:extLst>
          </p:cNvPr>
          <p:cNvSpPr/>
          <p:nvPr/>
        </p:nvSpPr>
        <p:spPr>
          <a:xfrm>
            <a:off x="435460" y="2268372"/>
            <a:ext cx="1676400" cy="8568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Are there “crude prevalence estimates (per 100,000)” with 95% confidence intervals?</a:t>
            </a:r>
          </a:p>
        </p:txBody>
      </p:sp>
      <p:sp>
        <p:nvSpPr>
          <p:cNvPr id="68" name="Rounded Rectangle 67">
            <a:extLst>
              <a:ext uri="{FF2B5EF4-FFF2-40B4-BE49-F238E27FC236}">
                <a16:creationId xmlns:a16="http://schemas.microsoft.com/office/drawing/2014/main" id="{CF39ED71-9D2B-DBC4-769A-B6DB5FFD0DD0}"/>
              </a:ext>
            </a:extLst>
          </p:cNvPr>
          <p:cNvSpPr/>
          <p:nvPr/>
        </p:nvSpPr>
        <p:spPr>
          <a:xfrm>
            <a:off x="2838479" y="2489969"/>
            <a:ext cx="1676400" cy="77893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Were these crude estimates “inflated due to non-use of chest </a:t>
            </a:r>
            <a:br>
              <a:rPr lang="en-US" sz="1050" dirty="0"/>
            </a:br>
            <a:r>
              <a:rPr lang="en-US" sz="1050" dirty="0"/>
              <a:t>X-ray during screening”?</a:t>
            </a:r>
          </a:p>
        </p:txBody>
      </p:sp>
      <p:cxnSp>
        <p:nvCxnSpPr>
          <p:cNvPr id="69" name="Straight Arrow Connector 68">
            <a:extLst>
              <a:ext uri="{FF2B5EF4-FFF2-40B4-BE49-F238E27FC236}">
                <a16:creationId xmlns:a16="http://schemas.microsoft.com/office/drawing/2014/main" id="{61794B84-6E30-5E58-4B7B-089E808D7474}"/>
              </a:ext>
            </a:extLst>
          </p:cNvPr>
          <p:cNvCxnSpPr>
            <a:endCxn id="68" idx="1"/>
          </p:cNvCxnSpPr>
          <p:nvPr/>
        </p:nvCxnSpPr>
        <p:spPr>
          <a:xfrm>
            <a:off x="2118811" y="2879434"/>
            <a:ext cx="71966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0" name="TextBox 69">
            <a:extLst>
              <a:ext uri="{FF2B5EF4-FFF2-40B4-BE49-F238E27FC236}">
                <a16:creationId xmlns:a16="http://schemas.microsoft.com/office/drawing/2014/main" id="{64F00519-B657-D3FC-661C-710F150EA48D}"/>
              </a:ext>
            </a:extLst>
          </p:cNvPr>
          <p:cNvSpPr txBox="1"/>
          <p:nvPr/>
        </p:nvSpPr>
        <p:spPr>
          <a:xfrm>
            <a:off x="2253936" y="2571658"/>
            <a:ext cx="503634" cy="307777"/>
          </a:xfrm>
          <a:prstGeom prst="rect">
            <a:avLst/>
          </a:prstGeom>
          <a:noFill/>
        </p:spPr>
        <p:txBody>
          <a:bodyPr wrap="square" rtlCol="0">
            <a:spAutoFit/>
          </a:bodyPr>
          <a:lstStyle/>
          <a:p>
            <a:r>
              <a:rPr lang="en-US" sz="1400" b="1" dirty="0">
                <a:solidFill>
                  <a:schemeClr val="accent6"/>
                </a:solidFill>
              </a:rPr>
              <a:t>Yes</a:t>
            </a:r>
          </a:p>
        </p:txBody>
      </p:sp>
      <p:sp>
        <p:nvSpPr>
          <p:cNvPr id="71" name="TextBox 70">
            <a:extLst>
              <a:ext uri="{FF2B5EF4-FFF2-40B4-BE49-F238E27FC236}">
                <a16:creationId xmlns:a16="http://schemas.microsoft.com/office/drawing/2014/main" id="{D0A1C5AC-B3EC-CDF0-E345-4AA0DA817449}"/>
              </a:ext>
            </a:extLst>
          </p:cNvPr>
          <p:cNvSpPr txBox="1"/>
          <p:nvPr/>
        </p:nvSpPr>
        <p:spPr>
          <a:xfrm>
            <a:off x="4568654" y="2571657"/>
            <a:ext cx="449229" cy="307777"/>
          </a:xfrm>
          <a:prstGeom prst="rect">
            <a:avLst/>
          </a:prstGeom>
          <a:noFill/>
        </p:spPr>
        <p:txBody>
          <a:bodyPr wrap="square" rtlCol="0">
            <a:spAutoFit/>
          </a:bodyPr>
          <a:lstStyle/>
          <a:p>
            <a:r>
              <a:rPr lang="en-US" sz="1400" b="1" dirty="0">
                <a:solidFill>
                  <a:srgbClr val="FF0000"/>
                </a:solidFill>
              </a:rPr>
              <a:t>No</a:t>
            </a:r>
          </a:p>
        </p:txBody>
      </p:sp>
      <p:cxnSp>
        <p:nvCxnSpPr>
          <p:cNvPr id="72" name="Straight Arrow Connector 71">
            <a:extLst>
              <a:ext uri="{FF2B5EF4-FFF2-40B4-BE49-F238E27FC236}">
                <a16:creationId xmlns:a16="http://schemas.microsoft.com/office/drawing/2014/main" id="{6D412863-F0A5-73DF-15CF-099CC59041F9}"/>
              </a:ext>
            </a:extLst>
          </p:cNvPr>
          <p:cNvCxnSpPr>
            <a:cxnSpLocks/>
            <a:stCxn id="68" idx="3"/>
            <a:endCxn id="73" idx="1"/>
          </p:cNvCxnSpPr>
          <p:nvPr/>
        </p:nvCxnSpPr>
        <p:spPr>
          <a:xfrm>
            <a:off x="4514880" y="2879436"/>
            <a:ext cx="65774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3" name="Rounded Rectangle 72">
            <a:extLst>
              <a:ext uri="{FF2B5EF4-FFF2-40B4-BE49-F238E27FC236}">
                <a16:creationId xmlns:a16="http://schemas.microsoft.com/office/drawing/2014/main" id="{003B8F27-D033-927C-8663-2684AF4AD2D3}"/>
              </a:ext>
            </a:extLst>
          </p:cNvPr>
          <p:cNvSpPr/>
          <p:nvPr/>
        </p:nvSpPr>
        <p:spPr>
          <a:xfrm>
            <a:off x="5172620" y="2451022"/>
            <a:ext cx="1676400" cy="8568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Use these “crude prevalence estimates (per 100,000)” with 95% confidence intervals?</a:t>
            </a:r>
          </a:p>
        </p:txBody>
      </p:sp>
      <p:sp>
        <p:nvSpPr>
          <p:cNvPr id="75" name="TextBox 74">
            <a:extLst>
              <a:ext uri="{FF2B5EF4-FFF2-40B4-BE49-F238E27FC236}">
                <a16:creationId xmlns:a16="http://schemas.microsoft.com/office/drawing/2014/main" id="{6C006356-9A76-EA82-561D-EC08CCD9B671}"/>
              </a:ext>
            </a:extLst>
          </p:cNvPr>
          <p:cNvSpPr txBox="1"/>
          <p:nvPr/>
        </p:nvSpPr>
        <p:spPr>
          <a:xfrm>
            <a:off x="5079133" y="410600"/>
            <a:ext cx="2654702" cy="307777"/>
          </a:xfrm>
          <a:prstGeom prst="rect">
            <a:avLst/>
          </a:prstGeom>
          <a:noFill/>
        </p:spPr>
        <p:txBody>
          <a:bodyPr wrap="square" rtlCol="0">
            <a:spAutoFit/>
          </a:bodyPr>
          <a:lstStyle/>
          <a:p>
            <a:r>
              <a:rPr lang="en-US" sz="1400" b="1" dirty="0"/>
              <a:t>Estimates to be analyzed</a:t>
            </a:r>
          </a:p>
        </p:txBody>
      </p:sp>
      <p:cxnSp>
        <p:nvCxnSpPr>
          <p:cNvPr id="76" name="Straight Arrow Connector 75">
            <a:extLst>
              <a:ext uri="{FF2B5EF4-FFF2-40B4-BE49-F238E27FC236}">
                <a16:creationId xmlns:a16="http://schemas.microsoft.com/office/drawing/2014/main" id="{3EDCC866-97A3-83B6-A742-7CD60C26CE98}"/>
              </a:ext>
            </a:extLst>
          </p:cNvPr>
          <p:cNvCxnSpPr>
            <a:cxnSpLocks/>
            <a:stCxn id="65" idx="2"/>
          </p:cNvCxnSpPr>
          <p:nvPr/>
        </p:nvCxnSpPr>
        <p:spPr>
          <a:xfrm>
            <a:off x="1273660" y="3125201"/>
            <a:ext cx="0" cy="4675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8631E0EB-147D-54F5-76E2-08CDF233411A}"/>
              </a:ext>
            </a:extLst>
          </p:cNvPr>
          <p:cNvSpPr txBox="1"/>
          <p:nvPr/>
        </p:nvSpPr>
        <p:spPr>
          <a:xfrm>
            <a:off x="1348502" y="3153366"/>
            <a:ext cx="449229" cy="307777"/>
          </a:xfrm>
          <a:prstGeom prst="rect">
            <a:avLst/>
          </a:prstGeom>
          <a:noFill/>
        </p:spPr>
        <p:txBody>
          <a:bodyPr wrap="square" rtlCol="0">
            <a:spAutoFit/>
          </a:bodyPr>
          <a:lstStyle/>
          <a:p>
            <a:r>
              <a:rPr lang="en-US" sz="1400" b="1" dirty="0">
                <a:solidFill>
                  <a:srgbClr val="FF0000"/>
                </a:solidFill>
              </a:rPr>
              <a:t>No</a:t>
            </a:r>
          </a:p>
        </p:txBody>
      </p:sp>
      <p:sp>
        <p:nvSpPr>
          <p:cNvPr id="79" name="Rounded Rectangle 78">
            <a:extLst>
              <a:ext uri="{FF2B5EF4-FFF2-40B4-BE49-F238E27FC236}">
                <a16:creationId xmlns:a16="http://schemas.microsoft.com/office/drawing/2014/main" id="{E75BB71C-04E8-C1FE-3DE5-253023ACF165}"/>
              </a:ext>
            </a:extLst>
          </p:cNvPr>
          <p:cNvSpPr/>
          <p:nvPr/>
        </p:nvSpPr>
        <p:spPr>
          <a:xfrm>
            <a:off x="5183699" y="3776127"/>
            <a:ext cx="1676400" cy="8568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Use numerator and denominator to calculate prevalence per 100,000</a:t>
            </a:r>
          </a:p>
        </p:txBody>
      </p:sp>
      <p:cxnSp>
        <p:nvCxnSpPr>
          <p:cNvPr id="81" name="Elbow Connector 80">
            <a:extLst>
              <a:ext uri="{FF2B5EF4-FFF2-40B4-BE49-F238E27FC236}">
                <a16:creationId xmlns:a16="http://schemas.microsoft.com/office/drawing/2014/main" id="{91EB68DC-6B97-7583-C3B6-2D4DE93FED76}"/>
              </a:ext>
            </a:extLst>
          </p:cNvPr>
          <p:cNvCxnSpPr>
            <a:cxnSpLocks/>
            <a:stCxn id="68" idx="2"/>
          </p:cNvCxnSpPr>
          <p:nvPr/>
        </p:nvCxnSpPr>
        <p:spPr>
          <a:xfrm rot="5400000">
            <a:off x="2671021" y="2692454"/>
            <a:ext cx="429213" cy="158210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82" name="TextBox 81">
            <a:extLst>
              <a:ext uri="{FF2B5EF4-FFF2-40B4-BE49-F238E27FC236}">
                <a16:creationId xmlns:a16="http://schemas.microsoft.com/office/drawing/2014/main" id="{AB0471BE-0E6A-5174-5E42-70CBCEBA81E9}"/>
              </a:ext>
            </a:extLst>
          </p:cNvPr>
          <p:cNvSpPr txBox="1"/>
          <p:nvPr/>
        </p:nvSpPr>
        <p:spPr>
          <a:xfrm>
            <a:off x="3690772" y="3322589"/>
            <a:ext cx="503634" cy="307777"/>
          </a:xfrm>
          <a:prstGeom prst="rect">
            <a:avLst/>
          </a:prstGeom>
          <a:noFill/>
        </p:spPr>
        <p:txBody>
          <a:bodyPr wrap="square" rtlCol="0">
            <a:spAutoFit/>
          </a:bodyPr>
          <a:lstStyle/>
          <a:p>
            <a:r>
              <a:rPr lang="en-US" sz="1400" b="1" dirty="0">
                <a:solidFill>
                  <a:schemeClr val="accent6"/>
                </a:solidFill>
              </a:rPr>
              <a:t>Yes</a:t>
            </a:r>
          </a:p>
        </p:txBody>
      </p:sp>
      <p:sp>
        <p:nvSpPr>
          <p:cNvPr id="89" name="Rounded Rectangle 88">
            <a:extLst>
              <a:ext uri="{FF2B5EF4-FFF2-40B4-BE49-F238E27FC236}">
                <a16:creationId xmlns:a16="http://schemas.microsoft.com/office/drawing/2014/main" id="{462D93D2-03E3-46B9-989A-FE75EA5EE2D9}"/>
              </a:ext>
            </a:extLst>
          </p:cNvPr>
          <p:cNvSpPr/>
          <p:nvPr/>
        </p:nvSpPr>
        <p:spPr>
          <a:xfrm>
            <a:off x="5195576" y="5066191"/>
            <a:ext cx="1676400" cy="8568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solidFill>
                  <a:schemeClr val="tx1"/>
                </a:solidFill>
              </a:rPr>
              <a:t>Use numerator or denominator with</a:t>
            </a:r>
            <a:br>
              <a:rPr lang="en-US" sz="1050" dirty="0">
                <a:solidFill>
                  <a:schemeClr val="tx1"/>
                </a:solidFill>
              </a:rPr>
            </a:br>
            <a:r>
              <a:rPr lang="en-US" sz="1050" dirty="0">
                <a:solidFill>
                  <a:schemeClr val="tx1"/>
                </a:solidFill>
              </a:rPr>
              <a:t>“adjusted prevalence estimates”</a:t>
            </a:r>
          </a:p>
        </p:txBody>
      </p:sp>
      <p:sp>
        <p:nvSpPr>
          <p:cNvPr id="92" name="Rounded Rectangle 91">
            <a:extLst>
              <a:ext uri="{FF2B5EF4-FFF2-40B4-BE49-F238E27FC236}">
                <a16:creationId xmlns:a16="http://schemas.microsoft.com/office/drawing/2014/main" id="{10A77084-67E7-CBC6-DF2D-D23F00E0A3D4}"/>
              </a:ext>
            </a:extLst>
          </p:cNvPr>
          <p:cNvSpPr/>
          <p:nvPr/>
        </p:nvSpPr>
        <p:spPr>
          <a:xfrm>
            <a:off x="5218259" y="7516405"/>
            <a:ext cx="1676400" cy="8568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Estimate denominator using total participant count and UNAIDS HIV prevalence estimates and use with numerator.</a:t>
            </a:r>
          </a:p>
        </p:txBody>
      </p:sp>
      <p:sp>
        <p:nvSpPr>
          <p:cNvPr id="94" name="TextBox 93">
            <a:extLst>
              <a:ext uri="{FF2B5EF4-FFF2-40B4-BE49-F238E27FC236}">
                <a16:creationId xmlns:a16="http://schemas.microsoft.com/office/drawing/2014/main" id="{09C13A5F-5CBB-F017-208A-135411562E05}"/>
              </a:ext>
            </a:extLst>
          </p:cNvPr>
          <p:cNvSpPr txBox="1"/>
          <p:nvPr/>
        </p:nvSpPr>
        <p:spPr>
          <a:xfrm>
            <a:off x="3678969" y="1950441"/>
            <a:ext cx="503634" cy="307777"/>
          </a:xfrm>
          <a:prstGeom prst="rect">
            <a:avLst/>
          </a:prstGeom>
          <a:noFill/>
        </p:spPr>
        <p:txBody>
          <a:bodyPr wrap="square" rtlCol="0">
            <a:spAutoFit/>
          </a:bodyPr>
          <a:lstStyle/>
          <a:p>
            <a:r>
              <a:rPr lang="en-US" sz="1400" b="1" dirty="0">
                <a:solidFill>
                  <a:schemeClr val="accent6"/>
                </a:solidFill>
              </a:rPr>
              <a:t>Yes</a:t>
            </a:r>
          </a:p>
        </p:txBody>
      </p:sp>
      <p:cxnSp>
        <p:nvCxnSpPr>
          <p:cNvPr id="103" name="Straight Arrow Connector 102">
            <a:extLst>
              <a:ext uri="{FF2B5EF4-FFF2-40B4-BE49-F238E27FC236}">
                <a16:creationId xmlns:a16="http://schemas.microsoft.com/office/drawing/2014/main" id="{084275FF-E943-4460-4B87-DE43AD9D5D5B}"/>
              </a:ext>
            </a:extLst>
          </p:cNvPr>
          <p:cNvCxnSpPr>
            <a:cxnSpLocks/>
            <a:stCxn id="99" idx="3"/>
          </p:cNvCxnSpPr>
          <p:nvPr/>
        </p:nvCxnSpPr>
        <p:spPr>
          <a:xfrm flipV="1">
            <a:off x="4525957" y="5531880"/>
            <a:ext cx="657742" cy="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4" name="TextBox 103">
            <a:extLst>
              <a:ext uri="{FF2B5EF4-FFF2-40B4-BE49-F238E27FC236}">
                <a16:creationId xmlns:a16="http://schemas.microsoft.com/office/drawing/2014/main" id="{DD694F42-4767-116E-EABA-76C15A6AEC9A}"/>
              </a:ext>
            </a:extLst>
          </p:cNvPr>
          <p:cNvSpPr txBox="1"/>
          <p:nvPr/>
        </p:nvSpPr>
        <p:spPr>
          <a:xfrm>
            <a:off x="3691217" y="6024417"/>
            <a:ext cx="449229" cy="307777"/>
          </a:xfrm>
          <a:prstGeom prst="rect">
            <a:avLst/>
          </a:prstGeom>
          <a:noFill/>
        </p:spPr>
        <p:txBody>
          <a:bodyPr wrap="square" rtlCol="0">
            <a:spAutoFit/>
          </a:bodyPr>
          <a:lstStyle/>
          <a:p>
            <a:r>
              <a:rPr lang="en-US" sz="1400" b="1" dirty="0">
                <a:solidFill>
                  <a:srgbClr val="FF0000"/>
                </a:solidFill>
              </a:rPr>
              <a:t>No</a:t>
            </a:r>
          </a:p>
        </p:txBody>
      </p:sp>
      <p:sp>
        <p:nvSpPr>
          <p:cNvPr id="105" name="TextBox 104">
            <a:extLst>
              <a:ext uri="{FF2B5EF4-FFF2-40B4-BE49-F238E27FC236}">
                <a16:creationId xmlns:a16="http://schemas.microsoft.com/office/drawing/2014/main" id="{16FB7937-7EAC-6DFD-C206-726FE366C4BF}"/>
              </a:ext>
            </a:extLst>
          </p:cNvPr>
          <p:cNvSpPr txBox="1"/>
          <p:nvPr/>
        </p:nvSpPr>
        <p:spPr>
          <a:xfrm>
            <a:off x="4541651" y="5198233"/>
            <a:ext cx="503634" cy="307777"/>
          </a:xfrm>
          <a:prstGeom prst="rect">
            <a:avLst/>
          </a:prstGeom>
          <a:noFill/>
        </p:spPr>
        <p:txBody>
          <a:bodyPr wrap="square" rtlCol="0">
            <a:spAutoFit/>
          </a:bodyPr>
          <a:lstStyle/>
          <a:p>
            <a:r>
              <a:rPr lang="en-US" sz="1400" b="1" dirty="0">
                <a:solidFill>
                  <a:schemeClr val="accent6"/>
                </a:solidFill>
              </a:rPr>
              <a:t>Yes</a:t>
            </a:r>
          </a:p>
        </p:txBody>
      </p:sp>
      <p:cxnSp>
        <p:nvCxnSpPr>
          <p:cNvPr id="107" name="Straight Arrow Connector 106">
            <a:extLst>
              <a:ext uri="{FF2B5EF4-FFF2-40B4-BE49-F238E27FC236}">
                <a16:creationId xmlns:a16="http://schemas.microsoft.com/office/drawing/2014/main" id="{6ACDCBFE-7BA3-4F20-9989-507332A16CB2}"/>
              </a:ext>
            </a:extLst>
          </p:cNvPr>
          <p:cNvCxnSpPr>
            <a:cxnSpLocks/>
          </p:cNvCxnSpPr>
          <p:nvPr/>
        </p:nvCxnSpPr>
        <p:spPr>
          <a:xfrm>
            <a:off x="3693027" y="5910804"/>
            <a:ext cx="0" cy="5065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0" name="TextBox 109">
            <a:extLst>
              <a:ext uri="{FF2B5EF4-FFF2-40B4-BE49-F238E27FC236}">
                <a16:creationId xmlns:a16="http://schemas.microsoft.com/office/drawing/2014/main" id="{94DC6180-3BF5-535B-0693-C06F372EFDF2}"/>
              </a:ext>
            </a:extLst>
          </p:cNvPr>
          <p:cNvSpPr txBox="1"/>
          <p:nvPr/>
        </p:nvSpPr>
        <p:spPr>
          <a:xfrm>
            <a:off x="3701912" y="7274746"/>
            <a:ext cx="449229" cy="307777"/>
          </a:xfrm>
          <a:prstGeom prst="rect">
            <a:avLst/>
          </a:prstGeom>
          <a:noFill/>
        </p:spPr>
        <p:txBody>
          <a:bodyPr wrap="square" rtlCol="0">
            <a:spAutoFit/>
          </a:bodyPr>
          <a:lstStyle/>
          <a:p>
            <a:r>
              <a:rPr lang="en-US" sz="1400" b="1" dirty="0">
                <a:solidFill>
                  <a:srgbClr val="FF0000"/>
                </a:solidFill>
              </a:rPr>
              <a:t>No</a:t>
            </a:r>
          </a:p>
        </p:txBody>
      </p:sp>
      <p:sp>
        <p:nvSpPr>
          <p:cNvPr id="111" name="Rounded Rectangle 110">
            <a:extLst>
              <a:ext uri="{FF2B5EF4-FFF2-40B4-BE49-F238E27FC236}">
                <a16:creationId xmlns:a16="http://schemas.microsoft.com/office/drawing/2014/main" id="{EB888E29-7680-445E-DF1E-808F2AADE64D}"/>
              </a:ext>
            </a:extLst>
          </p:cNvPr>
          <p:cNvSpPr/>
          <p:nvPr/>
        </p:nvSpPr>
        <p:spPr>
          <a:xfrm>
            <a:off x="5218259" y="6361173"/>
            <a:ext cx="1676400" cy="8568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solidFill>
                  <a:schemeClr val="tx1"/>
                </a:solidFill>
              </a:rPr>
              <a:t>Use numerator or denominator with</a:t>
            </a:r>
            <a:br>
              <a:rPr lang="en-US" sz="1050" dirty="0"/>
            </a:br>
            <a:r>
              <a:rPr lang="en-US" sz="1050" dirty="0"/>
              <a:t>“crude prevalence estimates”</a:t>
            </a:r>
            <a:endParaRPr lang="en-US" sz="1050" dirty="0">
              <a:highlight>
                <a:srgbClr val="FFFF00"/>
              </a:highlight>
            </a:endParaRPr>
          </a:p>
        </p:txBody>
      </p:sp>
      <p:cxnSp>
        <p:nvCxnSpPr>
          <p:cNvPr id="112" name="Straight Arrow Connector 111">
            <a:extLst>
              <a:ext uri="{FF2B5EF4-FFF2-40B4-BE49-F238E27FC236}">
                <a16:creationId xmlns:a16="http://schemas.microsoft.com/office/drawing/2014/main" id="{120BDF22-AA51-FF7B-536E-2E62163B45E0}"/>
              </a:ext>
            </a:extLst>
          </p:cNvPr>
          <p:cNvCxnSpPr>
            <a:cxnSpLocks/>
          </p:cNvCxnSpPr>
          <p:nvPr/>
        </p:nvCxnSpPr>
        <p:spPr>
          <a:xfrm>
            <a:off x="4540478" y="6813008"/>
            <a:ext cx="65774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3" name="TextBox 112">
            <a:extLst>
              <a:ext uri="{FF2B5EF4-FFF2-40B4-BE49-F238E27FC236}">
                <a16:creationId xmlns:a16="http://schemas.microsoft.com/office/drawing/2014/main" id="{5F98AB84-D431-AB8D-A753-C6C86D2C7368}"/>
              </a:ext>
            </a:extLst>
          </p:cNvPr>
          <p:cNvSpPr txBox="1"/>
          <p:nvPr/>
        </p:nvSpPr>
        <p:spPr>
          <a:xfrm>
            <a:off x="4544392" y="6503946"/>
            <a:ext cx="503634" cy="307777"/>
          </a:xfrm>
          <a:prstGeom prst="rect">
            <a:avLst/>
          </a:prstGeom>
          <a:noFill/>
        </p:spPr>
        <p:txBody>
          <a:bodyPr wrap="square" rtlCol="0">
            <a:spAutoFit/>
          </a:bodyPr>
          <a:lstStyle/>
          <a:p>
            <a:r>
              <a:rPr lang="en-US" sz="1400" b="1" dirty="0">
                <a:solidFill>
                  <a:schemeClr val="accent6"/>
                </a:solidFill>
              </a:rPr>
              <a:t>Yes</a:t>
            </a:r>
          </a:p>
        </p:txBody>
      </p:sp>
      <p:sp>
        <p:nvSpPr>
          <p:cNvPr id="114" name="Rounded Rectangle 113">
            <a:extLst>
              <a:ext uri="{FF2B5EF4-FFF2-40B4-BE49-F238E27FC236}">
                <a16:creationId xmlns:a16="http://schemas.microsoft.com/office/drawing/2014/main" id="{875715AE-F9BE-3B25-4DAB-BD7C39DD9F60}"/>
              </a:ext>
            </a:extLst>
          </p:cNvPr>
          <p:cNvSpPr/>
          <p:nvPr/>
        </p:nvSpPr>
        <p:spPr>
          <a:xfrm>
            <a:off x="411206" y="3598493"/>
            <a:ext cx="1676400" cy="8568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Are there number of cases (</a:t>
            </a:r>
            <a:r>
              <a:rPr lang="en-US" sz="1050" dirty="0">
                <a:solidFill>
                  <a:schemeClr val="tx1"/>
                </a:solidFill>
              </a:rPr>
              <a:t>numerators) or HIV+ participants (denominators)?</a:t>
            </a:r>
          </a:p>
        </p:txBody>
      </p:sp>
      <p:cxnSp>
        <p:nvCxnSpPr>
          <p:cNvPr id="116" name="Straight Arrow Connector 115">
            <a:extLst>
              <a:ext uri="{FF2B5EF4-FFF2-40B4-BE49-F238E27FC236}">
                <a16:creationId xmlns:a16="http://schemas.microsoft.com/office/drawing/2014/main" id="{2B3A6ED9-8F90-B3D7-D9BB-FC7165133907}"/>
              </a:ext>
            </a:extLst>
          </p:cNvPr>
          <p:cNvCxnSpPr>
            <a:cxnSpLocks/>
          </p:cNvCxnSpPr>
          <p:nvPr/>
        </p:nvCxnSpPr>
        <p:spPr>
          <a:xfrm>
            <a:off x="2090236" y="4201230"/>
            <a:ext cx="71966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7" name="TextBox 116">
            <a:extLst>
              <a:ext uri="{FF2B5EF4-FFF2-40B4-BE49-F238E27FC236}">
                <a16:creationId xmlns:a16="http://schemas.microsoft.com/office/drawing/2014/main" id="{BA3DA2B9-1E50-7671-2086-2CB8A787A46C}"/>
              </a:ext>
            </a:extLst>
          </p:cNvPr>
          <p:cNvSpPr txBox="1"/>
          <p:nvPr/>
        </p:nvSpPr>
        <p:spPr>
          <a:xfrm>
            <a:off x="2253937" y="3893454"/>
            <a:ext cx="503634" cy="307777"/>
          </a:xfrm>
          <a:prstGeom prst="rect">
            <a:avLst/>
          </a:prstGeom>
          <a:noFill/>
        </p:spPr>
        <p:txBody>
          <a:bodyPr wrap="square" rtlCol="0">
            <a:spAutoFit/>
          </a:bodyPr>
          <a:lstStyle/>
          <a:p>
            <a:r>
              <a:rPr lang="en-US" sz="1400" b="1" dirty="0">
                <a:solidFill>
                  <a:schemeClr val="accent6"/>
                </a:solidFill>
              </a:rPr>
              <a:t>Yes</a:t>
            </a:r>
          </a:p>
        </p:txBody>
      </p:sp>
      <p:cxnSp>
        <p:nvCxnSpPr>
          <p:cNvPr id="118" name="Straight Arrow Connector 117">
            <a:extLst>
              <a:ext uri="{FF2B5EF4-FFF2-40B4-BE49-F238E27FC236}">
                <a16:creationId xmlns:a16="http://schemas.microsoft.com/office/drawing/2014/main" id="{431D10A0-8DE5-901F-4E3E-3CF7E68F7980}"/>
              </a:ext>
            </a:extLst>
          </p:cNvPr>
          <p:cNvCxnSpPr>
            <a:cxnSpLocks/>
            <a:stCxn id="115" idx="3"/>
          </p:cNvCxnSpPr>
          <p:nvPr/>
        </p:nvCxnSpPr>
        <p:spPr>
          <a:xfrm flipV="1">
            <a:off x="4514880" y="4215084"/>
            <a:ext cx="657742" cy="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9" name="TextBox 118">
            <a:extLst>
              <a:ext uri="{FF2B5EF4-FFF2-40B4-BE49-F238E27FC236}">
                <a16:creationId xmlns:a16="http://schemas.microsoft.com/office/drawing/2014/main" id="{542FE6B4-7EFE-DAC0-07AE-F36F6CB59E9A}"/>
              </a:ext>
            </a:extLst>
          </p:cNvPr>
          <p:cNvSpPr txBox="1"/>
          <p:nvPr/>
        </p:nvSpPr>
        <p:spPr>
          <a:xfrm>
            <a:off x="3686446" y="4680765"/>
            <a:ext cx="449229" cy="307777"/>
          </a:xfrm>
          <a:prstGeom prst="rect">
            <a:avLst/>
          </a:prstGeom>
          <a:noFill/>
        </p:spPr>
        <p:txBody>
          <a:bodyPr wrap="square" rtlCol="0">
            <a:spAutoFit/>
          </a:bodyPr>
          <a:lstStyle/>
          <a:p>
            <a:r>
              <a:rPr lang="en-US" sz="1400" b="1" dirty="0">
                <a:solidFill>
                  <a:srgbClr val="FF0000"/>
                </a:solidFill>
              </a:rPr>
              <a:t>No</a:t>
            </a:r>
          </a:p>
        </p:txBody>
      </p:sp>
      <p:sp>
        <p:nvSpPr>
          <p:cNvPr id="120" name="TextBox 119">
            <a:extLst>
              <a:ext uri="{FF2B5EF4-FFF2-40B4-BE49-F238E27FC236}">
                <a16:creationId xmlns:a16="http://schemas.microsoft.com/office/drawing/2014/main" id="{3091CFE2-411E-BAE7-44D8-C134B3D93F3D}"/>
              </a:ext>
            </a:extLst>
          </p:cNvPr>
          <p:cNvSpPr txBox="1"/>
          <p:nvPr/>
        </p:nvSpPr>
        <p:spPr>
          <a:xfrm>
            <a:off x="4529000" y="3892168"/>
            <a:ext cx="503634" cy="307777"/>
          </a:xfrm>
          <a:prstGeom prst="rect">
            <a:avLst/>
          </a:prstGeom>
          <a:noFill/>
        </p:spPr>
        <p:txBody>
          <a:bodyPr wrap="square" rtlCol="0">
            <a:spAutoFit/>
          </a:bodyPr>
          <a:lstStyle/>
          <a:p>
            <a:r>
              <a:rPr lang="en-US" sz="1400" b="1" dirty="0">
                <a:solidFill>
                  <a:schemeClr val="accent6"/>
                </a:solidFill>
              </a:rPr>
              <a:t>Yes</a:t>
            </a:r>
          </a:p>
        </p:txBody>
      </p:sp>
      <p:cxnSp>
        <p:nvCxnSpPr>
          <p:cNvPr id="121" name="Straight Arrow Connector 120">
            <a:extLst>
              <a:ext uri="{FF2B5EF4-FFF2-40B4-BE49-F238E27FC236}">
                <a16:creationId xmlns:a16="http://schemas.microsoft.com/office/drawing/2014/main" id="{679481F6-92A7-F7D7-C472-21715A077B62}"/>
              </a:ext>
            </a:extLst>
          </p:cNvPr>
          <p:cNvCxnSpPr>
            <a:cxnSpLocks/>
          </p:cNvCxnSpPr>
          <p:nvPr/>
        </p:nvCxnSpPr>
        <p:spPr>
          <a:xfrm>
            <a:off x="3681950" y="4594008"/>
            <a:ext cx="0" cy="5065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9" name="Elbow Connector 128">
            <a:extLst>
              <a:ext uri="{FF2B5EF4-FFF2-40B4-BE49-F238E27FC236}">
                <a16:creationId xmlns:a16="http://schemas.microsoft.com/office/drawing/2014/main" id="{6CC7D723-CEF9-7DFC-F148-4FE533200F98}"/>
              </a:ext>
            </a:extLst>
          </p:cNvPr>
          <p:cNvCxnSpPr>
            <a:cxnSpLocks/>
          </p:cNvCxnSpPr>
          <p:nvPr/>
        </p:nvCxnSpPr>
        <p:spPr>
          <a:xfrm rot="16200000" flipH="1">
            <a:off x="892666" y="4803298"/>
            <a:ext cx="4648890" cy="397793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8" name="Elbow Connector 147">
            <a:extLst>
              <a:ext uri="{FF2B5EF4-FFF2-40B4-BE49-F238E27FC236}">
                <a16:creationId xmlns:a16="http://schemas.microsoft.com/office/drawing/2014/main" id="{29A65A9F-E67B-6F01-0C15-769024BF3EEF}"/>
              </a:ext>
            </a:extLst>
          </p:cNvPr>
          <p:cNvCxnSpPr>
            <a:cxnSpLocks/>
          </p:cNvCxnSpPr>
          <p:nvPr/>
        </p:nvCxnSpPr>
        <p:spPr>
          <a:xfrm rot="10800000" flipV="1">
            <a:off x="2118811" y="1845085"/>
            <a:ext cx="1545956" cy="581108"/>
          </a:xfrm>
          <a:prstGeom prst="bentConnector3">
            <a:avLst>
              <a:gd name="adj1" fmla="val -701"/>
            </a:avLst>
          </a:prstGeom>
          <a:ln>
            <a:tailEnd type="triangle"/>
          </a:ln>
        </p:spPr>
        <p:style>
          <a:lnRef idx="2">
            <a:schemeClr val="accent1"/>
          </a:lnRef>
          <a:fillRef idx="0">
            <a:schemeClr val="accent1"/>
          </a:fillRef>
          <a:effectRef idx="1">
            <a:schemeClr val="accent1"/>
          </a:effectRef>
          <a:fontRef idx="minor">
            <a:schemeClr val="tx1"/>
          </a:fontRef>
        </p:style>
      </p:cxnSp>
      <p:sp>
        <p:nvSpPr>
          <p:cNvPr id="165" name="TextBox 164">
            <a:extLst>
              <a:ext uri="{FF2B5EF4-FFF2-40B4-BE49-F238E27FC236}">
                <a16:creationId xmlns:a16="http://schemas.microsoft.com/office/drawing/2014/main" id="{E0E87D0A-3C44-7A5D-AD44-CA4D61781068}"/>
              </a:ext>
            </a:extLst>
          </p:cNvPr>
          <p:cNvSpPr txBox="1"/>
          <p:nvPr/>
        </p:nvSpPr>
        <p:spPr>
          <a:xfrm>
            <a:off x="6827249" y="968142"/>
            <a:ext cx="1390142" cy="1015663"/>
          </a:xfrm>
          <a:prstGeom prst="rect">
            <a:avLst/>
          </a:prstGeom>
          <a:noFill/>
        </p:spPr>
        <p:txBody>
          <a:bodyPr wrap="square" rtlCol="0">
            <a:spAutoFit/>
          </a:bodyPr>
          <a:lstStyle/>
          <a:p>
            <a:pPr algn="ctr"/>
            <a:r>
              <a:rPr lang="en-US" sz="1200" b="1" dirty="0"/>
              <a:t>4 </a:t>
            </a:r>
          </a:p>
          <a:p>
            <a:pPr algn="ctr"/>
            <a:r>
              <a:rPr lang="en-US" sz="1200" b="1" dirty="0"/>
              <a:t>bacteriologically confirmed TB</a:t>
            </a:r>
          </a:p>
          <a:p>
            <a:pPr algn="ctr"/>
            <a:r>
              <a:rPr lang="en-US" sz="1200" b="1" dirty="0"/>
              <a:t>estimates</a:t>
            </a:r>
          </a:p>
          <a:p>
            <a:pPr algn="ctr"/>
            <a:r>
              <a:rPr lang="en-US" sz="1200" b="1" dirty="0"/>
              <a:t>included</a:t>
            </a:r>
          </a:p>
        </p:txBody>
      </p:sp>
      <p:sp>
        <p:nvSpPr>
          <p:cNvPr id="167" name="TextBox 166">
            <a:extLst>
              <a:ext uri="{FF2B5EF4-FFF2-40B4-BE49-F238E27FC236}">
                <a16:creationId xmlns:a16="http://schemas.microsoft.com/office/drawing/2014/main" id="{C994431A-3DD2-F00F-449A-29CF620424D0}"/>
              </a:ext>
            </a:extLst>
          </p:cNvPr>
          <p:cNvSpPr txBox="1"/>
          <p:nvPr/>
        </p:nvSpPr>
        <p:spPr>
          <a:xfrm>
            <a:off x="6885848" y="3876779"/>
            <a:ext cx="1272943" cy="646331"/>
          </a:xfrm>
          <a:prstGeom prst="rect">
            <a:avLst/>
          </a:prstGeom>
          <a:noFill/>
        </p:spPr>
        <p:txBody>
          <a:bodyPr wrap="square" rtlCol="0">
            <a:spAutoFit/>
          </a:bodyPr>
          <a:lstStyle/>
          <a:p>
            <a:pPr algn="ctr"/>
            <a:r>
              <a:rPr lang="en-US" sz="1200" b="1" dirty="0"/>
              <a:t>1 prevalent TB</a:t>
            </a:r>
          </a:p>
          <a:p>
            <a:pPr algn="ctr"/>
            <a:r>
              <a:rPr lang="en-US" sz="1200" b="1" dirty="0"/>
              <a:t>estimate</a:t>
            </a:r>
            <a:br>
              <a:rPr lang="en-US" sz="1200" b="1" dirty="0"/>
            </a:br>
            <a:r>
              <a:rPr lang="en-US" sz="1200" b="1" dirty="0"/>
              <a:t>included</a:t>
            </a:r>
          </a:p>
        </p:txBody>
      </p:sp>
      <p:sp>
        <p:nvSpPr>
          <p:cNvPr id="170" name="TextBox 169">
            <a:extLst>
              <a:ext uri="{FF2B5EF4-FFF2-40B4-BE49-F238E27FC236}">
                <a16:creationId xmlns:a16="http://schemas.microsoft.com/office/drawing/2014/main" id="{2FA4E3A0-8502-DB63-A357-E9E6A043F188}"/>
              </a:ext>
            </a:extLst>
          </p:cNvPr>
          <p:cNvSpPr txBox="1"/>
          <p:nvPr/>
        </p:nvSpPr>
        <p:spPr>
          <a:xfrm>
            <a:off x="7078475" y="8752508"/>
            <a:ext cx="879753" cy="646331"/>
          </a:xfrm>
          <a:prstGeom prst="rect">
            <a:avLst/>
          </a:prstGeom>
          <a:noFill/>
        </p:spPr>
        <p:txBody>
          <a:bodyPr wrap="square" rtlCol="0">
            <a:spAutoFit/>
          </a:bodyPr>
          <a:lstStyle/>
          <a:p>
            <a:pPr algn="ctr"/>
            <a:r>
              <a:rPr lang="en-US" sz="1200" b="1" dirty="0"/>
              <a:t>5</a:t>
            </a:r>
          </a:p>
          <a:p>
            <a:pPr algn="ctr"/>
            <a:r>
              <a:rPr lang="en-US" sz="1200" b="1" dirty="0"/>
              <a:t>surveys</a:t>
            </a:r>
            <a:br>
              <a:rPr lang="en-US" sz="1200" b="1" dirty="0"/>
            </a:br>
            <a:r>
              <a:rPr lang="en-US" sz="1200" b="1" dirty="0"/>
              <a:t>excluded</a:t>
            </a:r>
          </a:p>
        </p:txBody>
      </p:sp>
      <p:sp>
        <p:nvSpPr>
          <p:cNvPr id="2" name="TextBox 1">
            <a:extLst>
              <a:ext uri="{FF2B5EF4-FFF2-40B4-BE49-F238E27FC236}">
                <a16:creationId xmlns:a16="http://schemas.microsoft.com/office/drawing/2014/main" id="{6761606C-18B2-2990-5715-1CA2EE203F7A}"/>
              </a:ext>
            </a:extLst>
          </p:cNvPr>
          <p:cNvSpPr txBox="1"/>
          <p:nvPr/>
        </p:nvSpPr>
        <p:spPr>
          <a:xfrm>
            <a:off x="7065725" y="6433611"/>
            <a:ext cx="879753" cy="646331"/>
          </a:xfrm>
          <a:prstGeom prst="rect">
            <a:avLst/>
          </a:prstGeom>
          <a:noFill/>
        </p:spPr>
        <p:txBody>
          <a:bodyPr wrap="square" rtlCol="0">
            <a:spAutoFit/>
          </a:bodyPr>
          <a:lstStyle/>
          <a:p>
            <a:pPr algn="ctr"/>
            <a:r>
              <a:rPr lang="en-US" sz="1200" b="1" dirty="0"/>
              <a:t>0</a:t>
            </a:r>
          </a:p>
          <a:p>
            <a:pPr algn="ctr"/>
            <a:r>
              <a:rPr lang="en-US" sz="1200" b="1" dirty="0"/>
              <a:t>estimates</a:t>
            </a:r>
          </a:p>
          <a:p>
            <a:pPr algn="ctr"/>
            <a:r>
              <a:rPr lang="en-US" sz="1200" b="1" dirty="0"/>
              <a:t>included</a:t>
            </a:r>
          </a:p>
        </p:txBody>
      </p:sp>
      <p:sp>
        <p:nvSpPr>
          <p:cNvPr id="3" name="TextBox 2">
            <a:extLst>
              <a:ext uri="{FF2B5EF4-FFF2-40B4-BE49-F238E27FC236}">
                <a16:creationId xmlns:a16="http://schemas.microsoft.com/office/drawing/2014/main" id="{C8A2DB9D-9C09-817E-4B8A-24D097F096F5}"/>
              </a:ext>
            </a:extLst>
          </p:cNvPr>
          <p:cNvSpPr txBox="1"/>
          <p:nvPr/>
        </p:nvSpPr>
        <p:spPr>
          <a:xfrm>
            <a:off x="5085789" y="9481768"/>
            <a:ext cx="3123665" cy="523220"/>
          </a:xfrm>
          <a:prstGeom prst="rect">
            <a:avLst/>
          </a:prstGeom>
          <a:noFill/>
        </p:spPr>
        <p:txBody>
          <a:bodyPr wrap="square" rtlCol="0">
            <a:spAutoFit/>
          </a:bodyPr>
          <a:lstStyle/>
          <a:p>
            <a:pPr algn="ctr"/>
            <a:r>
              <a:rPr lang="en-US" sz="1400" b="1" dirty="0"/>
              <a:t>12 surveys included in primary quantitative analysis</a:t>
            </a:r>
          </a:p>
        </p:txBody>
      </p:sp>
      <p:sp>
        <p:nvSpPr>
          <p:cNvPr id="4" name="TextBox 3">
            <a:extLst>
              <a:ext uri="{FF2B5EF4-FFF2-40B4-BE49-F238E27FC236}">
                <a16:creationId xmlns:a16="http://schemas.microsoft.com/office/drawing/2014/main" id="{F85B4621-5BBF-F615-0251-5E15DF4B0B67}"/>
              </a:ext>
            </a:extLst>
          </p:cNvPr>
          <p:cNvSpPr txBox="1"/>
          <p:nvPr/>
        </p:nvSpPr>
        <p:spPr>
          <a:xfrm>
            <a:off x="20145" y="9338846"/>
            <a:ext cx="5051531" cy="707886"/>
          </a:xfrm>
          <a:prstGeom prst="rect">
            <a:avLst/>
          </a:prstGeom>
          <a:noFill/>
        </p:spPr>
        <p:txBody>
          <a:bodyPr wrap="square" rtlCol="0">
            <a:spAutoFit/>
          </a:bodyPr>
          <a:lstStyle/>
          <a:p>
            <a:r>
              <a:rPr lang="en-US" sz="1000" dirty="0"/>
              <a:t>Note: At each step in the decision tree, we also considered the indicator of TB. Where reported, we first selected estimates of “bacteriologically positive TB”, followed by “culture positive TB,” “prevalent TB”,  then finally “smear positive TB.” For each quantity, inclusion requires separate values for both HIV-positive and HIV-negative status.</a:t>
            </a:r>
          </a:p>
        </p:txBody>
      </p:sp>
      <p:sp>
        <p:nvSpPr>
          <p:cNvPr id="5" name="Rounded Rectangle 4">
            <a:extLst>
              <a:ext uri="{FF2B5EF4-FFF2-40B4-BE49-F238E27FC236}">
                <a16:creationId xmlns:a16="http://schemas.microsoft.com/office/drawing/2014/main" id="{841F33AE-2990-1BB1-6A7F-C7B5A9953AA4}"/>
              </a:ext>
            </a:extLst>
          </p:cNvPr>
          <p:cNvSpPr/>
          <p:nvPr/>
        </p:nvSpPr>
        <p:spPr>
          <a:xfrm>
            <a:off x="5227345" y="8647260"/>
            <a:ext cx="1676400" cy="8568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Exclude from meta-analysis of this strata</a:t>
            </a:r>
          </a:p>
        </p:txBody>
      </p:sp>
      <p:sp>
        <p:nvSpPr>
          <p:cNvPr id="8" name="TextBox 7">
            <a:extLst>
              <a:ext uri="{FF2B5EF4-FFF2-40B4-BE49-F238E27FC236}">
                <a16:creationId xmlns:a16="http://schemas.microsoft.com/office/drawing/2014/main" id="{10D4AC31-2431-E5B1-744A-DC8D2294E207}"/>
              </a:ext>
            </a:extLst>
          </p:cNvPr>
          <p:cNvSpPr txBox="1"/>
          <p:nvPr/>
        </p:nvSpPr>
        <p:spPr>
          <a:xfrm>
            <a:off x="3713273" y="8489182"/>
            <a:ext cx="449229" cy="307777"/>
          </a:xfrm>
          <a:prstGeom prst="rect">
            <a:avLst/>
          </a:prstGeom>
          <a:noFill/>
        </p:spPr>
        <p:txBody>
          <a:bodyPr wrap="square" rtlCol="0">
            <a:spAutoFit/>
          </a:bodyPr>
          <a:lstStyle/>
          <a:p>
            <a:r>
              <a:rPr lang="en-US" sz="1400" b="1" dirty="0">
                <a:solidFill>
                  <a:srgbClr val="FF0000"/>
                </a:solidFill>
              </a:rPr>
              <a:t>No</a:t>
            </a:r>
          </a:p>
        </p:txBody>
      </p:sp>
      <p:sp>
        <p:nvSpPr>
          <p:cNvPr id="9" name="TextBox 8">
            <a:extLst>
              <a:ext uri="{FF2B5EF4-FFF2-40B4-BE49-F238E27FC236}">
                <a16:creationId xmlns:a16="http://schemas.microsoft.com/office/drawing/2014/main" id="{96B72A13-377C-E5D1-118E-4EB1D464E552}"/>
              </a:ext>
            </a:extLst>
          </p:cNvPr>
          <p:cNvSpPr txBox="1"/>
          <p:nvPr/>
        </p:nvSpPr>
        <p:spPr>
          <a:xfrm>
            <a:off x="4562331" y="7659178"/>
            <a:ext cx="503634" cy="307777"/>
          </a:xfrm>
          <a:prstGeom prst="rect">
            <a:avLst/>
          </a:prstGeom>
          <a:noFill/>
        </p:spPr>
        <p:txBody>
          <a:bodyPr wrap="square" rtlCol="0">
            <a:spAutoFit/>
          </a:bodyPr>
          <a:lstStyle/>
          <a:p>
            <a:r>
              <a:rPr lang="en-US" sz="1400" b="1" dirty="0">
                <a:solidFill>
                  <a:schemeClr val="accent6"/>
                </a:solidFill>
              </a:rPr>
              <a:t>Yes</a:t>
            </a:r>
          </a:p>
        </p:txBody>
      </p:sp>
      <p:cxnSp>
        <p:nvCxnSpPr>
          <p:cNvPr id="10" name="Elbow Connector 9">
            <a:extLst>
              <a:ext uri="{FF2B5EF4-FFF2-40B4-BE49-F238E27FC236}">
                <a16:creationId xmlns:a16="http://schemas.microsoft.com/office/drawing/2014/main" id="{CE77D88B-0AD3-8FCF-7464-A9773BD58AC2}"/>
              </a:ext>
            </a:extLst>
          </p:cNvPr>
          <p:cNvCxnSpPr>
            <a:cxnSpLocks/>
          </p:cNvCxnSpPr>
          <p:nvPr/>
        </p:nvCxnSpPr>
        <p:spPr>
          <a:xfrm rot="16200000" flipH="1">
            <a:off x="4168887" y="7919348"/>
            <a:ext cx="569630" cy="1497418"/>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D64B87CD-2CBF-FA09-934B-5B477DDC3148}"/>
              </a:ext>
            </a:extLst>
          </p:cNvPr>
          <p:cNvCxnSpPr>
            <a:cxnSpLocks/>
          </p:cNvCxnSpPr>
          <p:nvPr/>
        </p:nvCxnSpPr>
        <p:spPr>
          <a:xfrm>
            <a:off x="4548156" y="7966954"/>
            <a:ext cx="65774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45011144-1DDD-1970-B54C-65D63DC13085}"/>
              </a:ext>
            </a:extLst>
          </p:cNvPr>
          <p:cNvCxnSpPr>
            <a:cxnSpLocks/>
          </p:cNvCxnSpPr>
          <p:nvPr/>
        </p:nvCxnSpPr>
        <p:spPr>
          <a:xfrm>
            <a:off x="3724691" y="7080693"/>
            <a:ext cx="0" cy="5065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8" name="Rounded Rectangle 107">
            <a:extLst>
              <a:ext uri="{FF2B5EF4-FFF2-40B4-BE49-F238E27FC236}">
                <a16:creationId xmlns:a16="http://schemas.microsoft.com/office/drawing/2014/main" id="{CD2D2723-468B-BDF0-08BA-023BA10EBA8B}"/>
              </a:ext>
            </a:extLst>
          </p:cNvPr>
          <p:cNvSpPr/>
          <p:nvPr/>
        </p:nvSpPr>
        <p:spPr>
          <a:xfrm>
            <a:off x="2859958" y="6423983"/>
            <a:ext cx="1676400" cy="8568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Are there also “crude prevalence estimates” without 95% confidence intervals?</a:t>
            </a:r>
          </a:p>
        </p:txBody>
      </p:sp>
      <p:sp>
        <p:nvSpPr>
          <p:cNvPr id="7" name="Rounded Rectangle 6">
            <a:extLst>
              <a:ext uri="{FF2B5EF4-FFF2-40B4-BE49-F238E27FC236}">
                <a16:creationId xmlns:a16="http://schemas.microsoft.com/office/drawing/2014/main" id="{B14E2C2C-7BCC-12A9-5681-57DD5EAD3215}"/>
              </a:ext>
            </a:extLst>
          </p:cNvPr>
          <p:cNvSpPr/>
          <p:nvPr/>
        </p:nvSpPr>
        <p:spPr>
          <a:xfrm>
            <a:off x="2877897" y="7579215"/>
            <a:ext cx="1676400" cy="8568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Are there cases (numerator) and total participant count?</a:t>
            </a:r>
          </a:p>
        </p:txBody>
      </p:sp>
      <p:sp>
        <p:nvSpPr>
          <p:cNvPr id="115" name="Rounded Rectangle 114">
            <a:extLst>
              <a:ext uri="{FF2B5EF4-FFF2-40B4-BE49-F238E27FC236}">
                <a16:creationId xmlns:a16="http://schemas.microsoft.com/office/drawing/2014/main" id="{D195275B-E6E8-481E-7C9D-8C4354B2A185}"/>
              </a:ext>
            </a:extLst>
          </p:cNvPr>
          <p:cNvSpPr/>
          <p:nvPr/>
        </p:nvSpPr>
        <p:spPr>
          <a:xfrm>
            <a:off x="2838480" y="3786672"/>
            <a:ext cx="1676400" cy="8568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solidFill>
                  <a:schemeClr val="tx1"/>
                </a:solidFill>
              </a:rPr>
              <a:t>Are there both numerators and denominators?</a:t>
            </a:r>
          </a:p>
        </p:txBody>
      </p:sp>
      <p:sp>
        <p:nvSpPr>
          <p:cNvPr id="99" name="Rounded Rectangle 98">
            <a:extLst>
              <a:ext uri="{FF2B5EF4-FFF2-40B4-BE49-F238E27FC236}">
                <a16:creationId xmlns:a16="http://schemas.microsoft.com/office/drawing/2014/main" id="{69E64011-9D6E-713F-AA27-03F269D203ED}"/>
              </a:ext>
            </a:extLst>
          </p:cNvPr>
          <p:cNvSpPr/>
          <p:nvPr/>
        </p:nvSpPr>
        <p:spPr>
          <a:xfrm>
            <a:off x="2849557" y="5103468"/>
            <a:ext cx="1676400" cy="8568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Are there also “adjusted prevalence estimates” without 95% confidence intervals?</a:t>
            </a:r>
          </a:p>
        </p:txBody>
      </p:sp>
      <p:cxnSp>
        <p:nvCxnSpPr>
          <p:cNvPr id="19" name="Straight Arrow Connector 18">
            <a:extLst>
              <a:ext uri="{FF2B5EF4-FFF2-40B4-BE49-F238E27FC236}">
                <a16:creationId xmlns:a16="http://schemas.microsoft.com/office/drawing/2014/main" id="{01FA1F75-F05B-70B6-6B6A-1E5DB2E18458}"/>
              </a:ext>
            </a:extLst>
          </p:cNvPr>
          <p:cNvCxnSpPr>
            <a:cxnSpLocks/>
          </p:cNvCxnSpPr>
          <p:nvPr/>
        </p:nvCxnSpPr>
        <p:spPr>
          <a:xfrm>
            <a:off x="1280611" y="630045"/>
            <a:ext cx="0" cy="4182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B1DF158F-956B-2201-DC64-EAB839836BA3}"/>
              </a:ext>
            </a:extLst>
          </p:cNvPr>
          <p:cNvSpPr txBox="1"/>
          <p:nvPr/>
        </p:nvSpPr>
        <p:spPr>
          <a:xfrm>
            <a:off x="1334387" y="580992"/>
            <a:ext cx="967899" cy="492443"/>
          </a:xfrm>
          <a:prstGeom prst="rect">
            <a:avLst/>
          </a:prstGeom>
          <a:noFill/>
        </p:spPr>
        <p:txBody>
          <a:bodyPr wrap="square" rtlCol="0">
            <a:spAutoFit/>
          </a:bodyPr>
          <a:lstStyle/>
          <a:p>
            <a:r>
              <a:rPr lang="en-US" sz="1400" b="1" dirty="0">
                <a:solidFill>
                  <a:schemeClr val="accent6"/>
                </a:solidFill>
              </a:rPr>
              <a:t>Yes     </a:t>
            </a:r>
            <a:r>
              <a:rPr lang="en-US" sz="1200" b="1" dirty="0">
                <a:solidFill>
                  <a:schemeClr val="accent6"/>
                </a:solidFill>
              </a:rPr>
              <a:t>N=12</a:t>
            </a:r>
            <a:endParaRPr lang="en-US" sz="1400" b="1" dirty="0">
              <a:solidFill>
                <a:schemeClr val="accent6"/>
              </a:solidFill>
            </a:endParaRPr>
          </a:p>
        </p:txBody>
      </p:sp>
      <p:sp>
        <p:nvSpPr>
          <p:cNvPr id="18" name="Rounded Rectangle 17">
            <a:extLst>
              <a:ext uri="{FF2B5EF4-FFF2-40B4-BE49-F238E27FC236}">
                <a16:creationId xmlns:a16="http://schemas.microsoft.com/office/drawing/2014/main" id="{46A6366D-485C-35BC-320D-CC8E331341CC}"/>
              </a:ext>
            </a:extLst>
          </p:cNvPr>
          <p:cNvSpPr/>
          <p:nvPr/>
        </p:nvSpPr>
        <p:spPr>
          <a:xfrm>
            <a:off x="442411" y="36302"/>
            <a:ext cx="1676400" cy="58522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Did the survey systematically HIV test participants? </a:t>
            </a:r>
          </a:p>
        </p:txBody>
      </p:sp>
      <p:sp>
        <p:nvSpPr>
          <p:cNvPr id="24" name="TextBox 23">
            <a:extLst>
              <a:ext uri="{FF2B5EF4-FFF2-40B4-BE49-F238E27FC236}">
                <a16:creationId xmlns:a16="http://schemas.microsoft.com/office/drawing/2014/main" id="{F1155EB0-5B6B-7935-003E-B853AF6F3FFD}"/>
              </a:ext>
            </a:extLst>
          </p:cNvPr>
          <p:cNvSpPr txBox="1"/>
          <p:nvPr/>
        </p:nvSpPr>
        <p:spPr>
          <a:xfrm>
            <a:off x="-8572" y="-13044"/>
            <a:ext cx="502029" cy="492443"/>
          </a:xfrm>
          <a:prstGeom prst="rect">
            <a:avLst/>
          </a:prstGeom>
          <a:noFill/>
        </p:spPr>
        <p:txBody>
          <a:bodyPr wrap="square" rtlCol="0">
            <a:spAutoFit/>
          </a:bodyPr>
          <a:lstStyle/>
          <a:p>
            <a:r>
              <a:rPr lang="en-US" sz="1400" b="1" dirty="0">
                <a:solidFill>
                  <a:srgbClr val="FF0000"/>
                </a:solidFill>
              </a:rPr>
              <a:t>No</a:t>
            </a:r>
          </a:p>
          <a:p>
            <a:r>
              <a:rPr lang="en-US" sz="1200" b="1" dirty="0">
                <a:solidFill>
                  <a:srgbClr val="FF0000"/>
                </a:solidFill>
              </a:rPr>
              <a:t>N=5</a:t>
            </a:r>
            <a:endParaRPr lang="en-US" sz="1400" b="1" dirty="0">
              <a:solidFill>
                <a:srgbClr val="FF0000"/>
              </a:solidFill>
            </a:endParaRPr>
          </a:p>
        </p:txBody>
      </p:sp>
      <p:cxnSp>
        <p:nvCxnSpPr>
          <p:cNvPr id="25" name="Elbow Connector 24">
            <a:extLst>
              <a:ext uri="{FF2B5EF4-FFF2-40B4-BE49-F238E27FC236}">
                <a16:creationId xmlns:a16="http://schemas.microsoft.com/office/drawing/2014/main" id="{BEBBDCC3-DE15-C630-C855-8D981D0DA32B}"/>
              </a:ext>
            </a:extLst>
          </p:cNvPr>
          <p:cNvCxnSpPr>
            <a:cxnSpLocks/>
          </p:cNvCxnSpPr>
          <p:nvPr/>
        </p:nvCxnSpPr>
        <p:spPr>
          <a:xfrm rot="16200000" flipH="1">
            <a:off x="-1685094" y="2396703"/>
            <a:ext cx="8827312" cy="4956041"/>
          </a:xfrm>
          <a:prstGeom prst="bentConnector3">
            <a:avLst>
              <a:gd name="adj1" fmla="val 99976"/>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16674AD1-753F-4706-E0EF-53EA205C5172}"/>
              </a:ext>
            </a:extLst>
          </p:cNvPr>
          <p:cNvCxnSpPr>
            <a:cxnSpLocks/>
          </p:cNvCxnSpPr>
          <p:nvPr/>
        </p:nvCxnSpPr>
        <p:spPr>
          <a:xfrm flipV="1">
            <a:off x="243542" y="461067"/>
            <a:ext cx="186593" cy="1"/>
          </a:xfrm>
          <a:prstGeom prst="line">
            <a:avLst/>
          </a:prstGeom>
        </p:spPr>
        <p:style>
          <a:lnRef idx="2">
            <a:schemeClr val="accent1"/>
          </a:lnRef>
          <a:fillRef idx="0">
            <a:schemeClr val="accent1"/>
          </a:fillRef>
          <a:effectRef idx="1">
            <a:schemeClr val="accent1"/>
          </a:effectRef>
          <a:fontRef idx="minor">
            <a:schemeClr val="tx1"/>
          </a:fontRef>
        </p:style>
      </p:cxnSp>
      <p:sp>
        <p:nvSpPr>
          <p:cNvPr id="40" name="Rounded Rectangle 39">
            <a:extLst>
              <a:ext uri="{FF2B5EF4-FFF2-40B4-BE49-F238E27FC236}">
                <a16:creationId xmlns:a16="http://schemas.microsoft.com/office/drawing/2014/main" id="{4F48827B-2703-92C7-5008-BA16C1EA3C96}"/>
              </a:ext>
            </a:extLst>
          </p:cNvPr>
          <p:cNvSpPr/>
          <p:nvPr/>
        </p:nvSpPr>
        <p:spPr>
          <a:xfrm>
            <a:off x="442411" y="1063024"/>
            <a:ext cx="1676400" cy="8568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Are there “adjusted prevalence estimates (per 100,000)” with 95% confidence intervals?</a:t>
            </a:r>
          </a:p>
        </p:txBody>
      </p:sp>
      <p:sp>
        <p:nvSpPr>
          <p:cNvPr id="41" name="Rounded Rectangle 40">
            <a:extLst>
              <a:ext uri="{FF2B5EF4-FFF2-40B4-BE49-F238E27FC236}">
                <a16:creationId xmlns:a16="http://schemas.microsoft.com/office/drawing/2014/main" id="{019423E6-828B-F8E0-449A-9F9533C6E44A}"/>
              </a:ext>
            </a:extLst>
          </p:cNvPr>
          <p:cNvSpPr/>
          <p:nvPr/>
        </p:nvSpPr>
        <p:spPr>
          <a:xfrm>
            <a:off x="2838479" y="1101971"/>
            <a:ext cx="1676400" cy="77893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Were these adjusted estimates “inflated due to non-use of chest </a:t>
            </a:r>
            <a:br>
              <a:rPr lang="en-US" sz="1050" dirty="0"/>
            </a:br>
            <a:r>
              <a:rPr lang="en-US" sz="1050" dirty="0"/>
              <a:t>X-ray during screening”?</a:t>
            </a:r>
          </a:p>
        </p:txBody>
      </p:sp>
      <p:sp>
        <p:nvSpPr>
          <p:cNvPr id="13" name="TextBox 12">
            <a:extLst>
              <a:ext uri="{FF2B5EF4-FFF2-40B4-BE49-F238E27FC236}">
                <a16:creationId xmlns:a16="http://schemas.microsoft.com/office/drawing/2014/main" id="{642CF990-64D6-AFE6-4E1B-47FC1EDE7874}"/>
              </a:ext>
            </a:extLst>
          </p:cNvPr>
          <p:cNvSpPr txBox="1"/>
          <p:nvPr/>
        </p:nvSpPr>
        <p:spPr>
          <a:xfrm>
            <a:off x="6844063" y="4959665"/>
            <a:ext cx="1390142" cy="1015663"/>
          </a:xfrm>
          <a:prstGeom prst="rect">
            <a:avLst/>
          </a:prstGeom>
          <a:noFill/>
        </p:spPr>
        <p:txBody>
          <a:bodyPr wrap="square" rtlCol="0">
            <a:spAutoFit/>
          </a:bodyPr>
          <a:lstStyle/>
          <a:p>
            <a:pPr algn="ctr"/>
            <a:r>
              <a:rPr lang="en-US" sz="1200" b="1" dirty="0"/>
              <a:t>1</a:t>
            </a:r>
          </a:p>
          <a:p>
            <a:pPr algn="ctr"/>
            <a:r>
              <a:rPr lang="en-US" sz="1200" b="1" dirty="0"/>
              <a:t>bacteriologically confirmed TB</a:t>
            </a:r>
          </a:p>
          <a:p>
            <a:pPr algn="ctr"/>
            <a:r>
              <a:rPr lang="en-US" sz="1200" b="1" dirty="0"/>
              <a:t>estimate</a:t>
            </a:r>
          </a:p>
          <a:p>
            <a:pPr algn="ctr"/>
            <a:r>
              <a:rPr lang="en-US" sz="1200" b="1" dirty="0"/>
              <a:t>included</a:t>
            </a:r>
          </a:p>
        </p:txBody>
      </p:sp>
      <p:sp>
        <p:nvSpPr>
          <p:cNvPr id="14" name="TextBox 13">
            <a:extLst>
              <a:ext uri="{FF2B5EF4-FFF2-40B4-BE49-F238E27FC236}">
                <a16:creationId xmlns:a16="http://schemas.microsoft.com/office/drawing/2014/main" id="{8FDA0600-0623-AC1F-84D7-4803DF0EFF73}"/>
              </a:ext>
            </a:extLst>
          </p:cNvPr>
          <p:cNvSpPr txBox="1"/>
          <p:nvPr/>
        </p:nvSpPr>
        <p:spPr>
          <a:xfrm>
            <a:off x="6860240" y="7411390"/>
            <a:ext cx="1390142" cy="1015663"/>
          </a:xfrm>
          <a:prstGeom prst="rect">
            <a:avLst/>
          </a:prstGeom>
          <a:noFill/>
        </p:spPr>
        <p:txBody>
          <a:bodyPr wrap="square" rtlCol="0">
            <a:spAutoFit/>
          </a:bodyPr>
          <a:lstStyle/>
          <a:p>
            <a:pPr algn="ctr"/>
            <a:r>
              <a:rPr lang="en-US" sz="1200" b="1" dirty="0"/>
              <a:t>4 </a:t>
            </a:r>
          </a:p>
          <a:p>
            <a:pPr algn="ctr"/>
            <a:r>
              <a:rPr lang="en-US" sz="1200" b="1" dirty="0"/>
              <a:t>bacteriologically confirmed TB</a:t>
            </a:r>
          </a:p>
          <a:p>
            <a:pPr algn="ctr"/>
            <a:r>
              <a:rPr lang="en-US" sz="1200" b="1" dirty="0"/>
              <a:t>estimates</a:t>
            </a:r>
          </a:p>
          <a:p>
            <a:pPr algn="ctr"/>
            <a:r>
              <a:rPr lang="en-US" sz="1200" b="1" dirty="0"/>
              <a:t>included</a:t>
            </a:r>
          </a:p>
        </p:txBody>
      </p:sp>
      <p:sp>
        <p:nvSpPr>
          <p:cNvPr id="15" name="TextBox 14">
            <a:extLst>
              <a:ext uri="{FF2B5EF4-FFF2-40B4-BE49-F238E27FC236}">
                <a16:creationId xmlns:a16="http://schemas.microsoft.com/office/drawing/2014/main" id="{A92A242A-FF5F-4DD8-E7DF-7F8AD6B236FD}"/>
              </a:ext>
            </a:extLst>
          </p:cNvPr>
          <p:cNvSpPr txBox="1"/>
          <p:nvPr/>
        </p:nvSpPr>
        <p:spPr>
          <a:xfrm>
            <a:off x="6844063" y="2285974"/>
            <a:ext cx="1390142" cy="1200329"/>
          </a:xfrm>
          <a:prstGeom prst="rect">
            <a:avLst/>
          </a:prstGeom>
          <a:noFill/>
        </p:spPr>
        <p:txBody>
          <a:bodyPr wrap="square" rtlCol="0">
            <a:spAutoFit/>
          </a:bodyPr>
          <a:lstStyle/>
          <a:p>
            <a:pPr algn="ctr"/>
            <a:r>
              <a:rPr lang="en-US" sz="1200" b="1" dirty="0"/>
              <a:t>1</a:t>
            </a:r>
          </a:p>
          <a:p>
            <a:pPr algn="ctr"/>
            <a:r>
              <a:rPr lang="en-US" sz="1200" b="1" dirty="0"/>
              <a:t>bacteriologically confirmed TB &amp; 1 prevalent TB</a:t>
            </a:r>
          </a:p>
          <a:p>
            <a:pPr algn="ctr"/>
            <a:r>
              <a:rPr lang="en-US" sz="1200" b="1" dirty="0"/>
              <a:t>estimate</a:t>
            </a:r>
          </a:p>
          <a:p>
            <a:pPr algn="ctr"/>
            <a:r>
              <a:rPr lang="en-US" sz="1200" b="1" dirty="0"/>
              <a:t>included</a:t>
            </a:r>
          </a:p>
        </p:txBody>
      </p:sp>
    </p:spTree>
    <p:extLst>
      <p:ext uri="{BB962C8B-B14F-4D97-AF65-F5344CB8AC3E}">
        <p14:creationId xmlns:p14="http://schemas.microsoft.com/office/powerpoint/2010/main" val="2663944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05F59-E164-9001-9EEC-ED2BD44868A2}"/>
            </a:ext>
          </a:extLst>
        </p:cNvPr>
        <p:cNvGrpSpPr/>
        <p:nvPr/>
      </p:nvGrpSpPr>
      <p:grpSpPr>
        <a:xfrm>
          <a:off x="0" y="0"/>
          <a:ext cx="0" cy="0"/>
          <a:chOff x="0" y="0"/>
          <a:chExt cx="0" cy="0"/>
        </a:xfrm>
      </p:grpSpPr>
      <p:sp>
        <p:nvSpPr>
          <p:cNvPr id="132" name="Rectangle 131">
            <a:extLst>
              <a:ext uri="{FF2B5EF4-FFF2-40B4-BE49-F238E27FC236}">
                <a16:creationId xmlns:a16="http://schemas.microsoft.com/office/drawing/2014/main" id="{D582FA08-03DE-5BA2-47F6-4DC241742B67}"/>
              </a:ext>
            </a:extLst>
          </p:cNvPr>
          <p:cNvSpPr/>
          <p:nvPr/>
        </p:nvSpPr>
        <p:spPr>
          <a:xfrm>
            <a:off x="5108811" y="1145709"/>
            <a:ext cx="2687377" cy="8421242"/>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7A092CFF-77FD-901D-D9A1-B0E8577F875A}"/>
              </a:ext>
            </a:extLst>
          </p:cNvPr>
          <p:cNvSpPr txBox="1"/>
          <p:nvPr/>
        </p:nvSpPr>
        <p:spPr>
          <a:xfrm>
            <a:off x="445771" y="158845"/>
            <a:ext cx="7338060" cy="584775"/>
          </a:xfrm>
          <a:prstGeom prst="rect">
            <a:avLst/>
          </a:prstGeom>
          <a:noFill/>
        </p:spPr>
        <p:txBody>
          <a:bodyPr wrap="square" rtlCol="0">
            <a:spAutoFit/>
          </a:bodyPr>
          <a:lstStyle/>
          <a:p>
            <a:pPr algn="ctr"/>
            <a:r>
              <a:rPr lang="en-US" sz="1600" b="1" dirty="0"/>
              <a:t>Reported estimates used in meta-analysis of </a:t>
            </a:r>
            <a:r>
              <a:rPr lang="en-US" sz="1600" b="1" dirty="0" err="1"/>
              <a:t>hiv</a:t>
            </a:r>
            <a:r>
              <a:rPr lang="en-US" sz="1600" b="1" dirty="0"/>
              <a:t>-stratified prevalence</a:t>
            </a:r>
          </a:p>
          <a:p>
            <a:pPr algn="ctr"/>
            <a:r>
              <a:rPr lang="en-US" sz="1600" b="1" dirty="0"/>
              <a:t>smear positive TB estimates</a:t>
            </a:r>
          </a:p>
        </p:txBody>
      </p:sp>
      <p:sp>
        <p:nvSpPr>
          <p:cNvPr id="40" name="Rounded Rectangle 39">
            <a:extLst>
              <a:ext uri="{FF2B5EF4-FFF2-40B4-BE49-F238E27FC236}">
                <a16:creationId xmlns:a16="http://schemas.microsoft.com/office/drawing/2014/main" id="{5491F1E9-BF59-A3E3-B55E-3BB999D367E6}"/>
              </a:ext>
            </a:extLst>
          </p:cNvPr>
          <p:cNvSpPr/>
          <p:nvPr/>
        </p:nvSpPr>
        <p:spPr>
          <a:xfrm>
            <a:off x="504763" y="1554118"/>
            <a:ext cx="1676400" cy="77893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Are there “adjusted prevalence estimates (per 100,000)” with 95% confidence intervals?</a:t>
            </a:r>
          </a:p>
        </p:txBody>
      </p:sp>
      <p:sp>
        <p:nvSpPr>
          <p:cNvPr id="41" name="Rounded Rectangle 40">
            <a:extLst>
              <a:ext uri="{FF2B5EF4-FFF2-40B4-BE49-F238E27FC236}">
                <a16:creationId xmlns:a16="http://schemas.microsoft.com/office/drawing/2014/main" id="{1CFD66FB-013C-B086-59C2-24A545EC71BC}"/>
              </a:ext>
            </a:extLst>
          </p:cNvPr>
          <p:cNvSpPr/>
          <p:nvPr/>
        </p:nvSpPr>
        <p:spPr>
          <a:xfrm>
            <a:off x="2900831" y="1554118"/>
            <a:ext cx="1676400" cy="77893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Were these adjusted estimates “inflated due to non-use of chest </a:t>
            </a:r>
            <a:br>
              <a:rPr lang="en-US" sz="1050" dirty="0"/>
            </a:br>
            <a:r>
              <a:rPr lang="en-US" sz="1050" dirty="0"/>
              <a:t>X-ray during screening”?</a:t>
            </a:r>
          </a:p>
        </p:txBody>
      </p:sp>
      <p:cxnSp>
        <p:nvCxnSpPr>
          <p:cNvPr id="43" name="Straight Arrow Connector 42">
            <a:extLst>
              <a:ext uri="{FF2B5EF4-FFF2-40B4-BE49-F238E27FC236}">
                <a16:creationId xmlns:a16="http://schemas.microsoft.com/office/drawing/2014/main" id="{5139BEB8-A7CD-D0E3-A48E-2EC7F3321A39}"/>
              </a:ext>
            </a:extLst>
          </p:cNvPr>
          <p:cNvCxnSpPr>
            <a:cxnSpLocks/>
            <a:stCxn id="40" idx="3"/>
            <a:endCxn id="41" idx="1"/>
          </p:cNvCxnSpPr>
          <p:nvPr/>
        </p:nvCxnSpPr>
        <p:spPr>
          <a:xfrm>
            <a:off x="2181163" y="1943583"/>
            <a:ext cx="71966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C7D66B52-54BE-E24A-D34E-957CE288D88C}"/>
              </a:ext>
            </a:extLst>
          </p:cNvPr>
          <p:cNvCxnSpPr>
            <a:cxnSpLocks/>
            <a:stCxn id="40" idx="2"/>
          </p:cNvCxnSpPr>
          <p:nvPr/>
        </p:nvCxnSpPr>
        <p:spPr>
          <a:xfrm>
            <a:off x="1342963" y="2333052"/>
            <a:ext cx="0" cy="4571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3C55DEDE-57FB-F93D-13C1-CC07C767A671}"/>
              </a:ext>
            </a:extLst>
          </p:cNvPr>
          <p:cNvSpPr txBox="1"/>
          <p:nvPr/>
        </p:nvSpPr>
        <p:spPr>
          <a:xfrm>
            <a:off x="2316288" y="1635807"/>
            <a:ext cx="503634" cy="307777"/>
          </a:xfrm>
          <a:prstGeom prst="rect">
            <a:avLst/>
          </a:prstGeom>
          <a:noFill/>
        </p:spPr>
        <p:txBody>
          <a:bodyPr wrap="square" rtlCol="0">
            <a:spAutoFit/>
          </a:bodyPr>
          <a:lstStyle/>
          <a:p>
            <a:r>
              <a:rPr lang="en-US" sz="1400" b="1" dirty="0">
                <a:solidFill>
                  <a:schemeClr val="accent6"/>
                </a:solidFill>
              </a:rPr>
              <a:t>Yes</a:t>
            </a:r>
          </a:p>
        </p:txBody>
      </p:sp>
      <p:sp>
        <p:nvSpPr>
          <p:cNvPr id="57" name="TextBox 56">
            <a:extLst>
              <a:ext uri="{FF2B5EF4-FFF2-40B4-BE49-F238E27FC236}">
                <a16:creationId xmlns:a16="http://schemas.microsoft.com/office/drawing/2014/main" id="{4D96F65C-5B0D-A3F9-23E0-B70C4CA167D8}"/>
              </a:ext>
            </a:extLst>
          </p:cNvPr>
          <p:cNvSpPr txBox="1"/>
          <p:nvPr/>
        </p:nvSpPr>
        <p:spPr>
          <a:xfrm>
            <a:off x="4631006" y="1635806"/>
            <a:ext cx="449229" cy="307777"/>
          </a:xfrm>
          <a:prstGeom prst="rect">
            <a:avLst/>
          </a:prstGeom>
          <a:noFill/>
        </p:spPr>
        <p:txBody>
          <a:bodyPr wrap="square" rtlCol="0">
            <a:spAutoFit/>
          </a:bodyPr>
          <a:lstStyle/>
          <a:p>
            <a:r>
              <a:rPr lang="en-US" sz="1400" b="1" dirty="0">
                <a:solidFill>
                  <a:srgbClr val="FF0000"/>
                </a:solidFill>
              </a:rPr>
              <a:t>No</a:t>
            </a:r>
          </a:p>
        </p:txBody>
      </p:sp>
      <p:cxnSp>
        <p:nvCxnSpPr>
          <p:cNvPr id="62" name="Straight Arrow Connector 61">
            <a:extLst>
              <a:ext uri="{FF2B5EF4-FFF2-40B4-BE49-F238E27FC236}">
                <a16:creationId xmlns:a16="http://schemas.microsoft.com/office/drawing/2014/main" id="{72CB1D68-BAB9-1CCC-3A40-F0FF474D6225}"/>
              </a:ext>
            </a:extLst>
          </p:cNvPr>
          <p:cNvCxnSpPr>
            <a:cxnSpLocks/>
            <a:stCxn id="41" idx="3"/>
            <a:endCxn id="63" idx="1"/>
          </p:cNvCxnSpPr>
          <p:nvPr/>
        </p:nvCxnSpPr>
        <p:spPr>
          <a:xfrm>
            <a:off x="4577233" y="1943583"/>
            <a:ext cx="65774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3" name="Rounded Rectangle 62">
            <a:extLst>
              <a:ext uri="{FF2B5EF4-FFF2-40B4-BE49-F238E27FC236}">
                <a16:creationId xmlns:a16="http://schemas.microsoft.com/office/drawing/2014/main" id="{D92AFB89-D7C8-DAC5-392E-DA57FEC3C89F}"/>
              </a:ext>
            </a:extLst>
          </p:cNvPr>
          <p:cNvSpPr/>
          <p:nvPr/>
        </p:nvSpPr>
        <p:spPr>
          <a:xfrm>
            <a:off x="5234972" y="1554118"/>
            <a:ext cx="1676400" cy="77893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Use these “adjusted prevalence estimates (per 100,000)” with 95% confidence intervals.</a:t>
            </a:r>
          </a:p>
        </p:txBody>
      </p:sp>
      <p:sp>
        <p:nvSpPr>
          <p:cNvPr id="64" name="TextBox 63">
            <a:extLst>
              <a:ext uri="{FF2B5EF4-FFF2-40B4-BE49-F238E27FC236}">
                <a16:creationId xmlns:a16="http://schemas.microsoft.com/office/drawing/2014/main" id="{35E2929A-90DC-640C-ADF8-81688AE09CAA}"/>
              </a:ext>
            </a:extLst>
          </p:cNvPr>
          <p:cNvSpPr txBox="1"/>
          <p:nvPr/>
        </p:nvSpPr>
        <p:spPr>
          <a:xfrm>
            <a:off x="1417805" y="2407761"/>
            <a:ext cx="449229" cy="307777"/>
          </a:xfrm>
          <a:prstGeom prst="rect">
            <a:avLst/>
          </a:prstGeom>
          <a:noFill/>
        </p:spPr>
        <p:txBody>
          <a:bodyPr wrap="square" rtlCol="0">
            <a:spAutoFit/>
          </a:bodyPr>
          <a:lstStyle/>
          <a:p>
            <a:r>
              <a:rPr lang="en-US" sz="1400" b="1" dirty="0">
                <a:solidFill>
                  <a:srgbClr val="FF0000"/>
                </a:solidFill>
              </a:rPr>
              <a:t>No</a:t>
            </a:r>
          </a:p>
        </p:txBody>
      </p:sp>
      <p:sp>
        <p:nvSpPr>
          <p:cNvPr id="65" name="Rounded Rectangle 64">
            <a:extLst>
              <a:ext uri="{FF2B5EF4-FFF2-40B4-BE49-F238E27FC236}">
                <a16:creationId xmlns:a16="http://schemas.microsoft.com/office/drawing/2014/main" id="{6E7127C4-3299-1027-BE11-5B22DA0B9A3F}"/>
              </a:ext>
            </a:extLst>
          </p:cNvPr>
          <p:cNvSpPr/>
          <p:nvPr/>
        </p:nvSpPr>
        <p:spPr>
          <a:xfrm>
            <a:off x="497812" y="2832700"/>
            <a:ext cx="1676400" cy="77893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Are there “crude prevalence estimates (per 100,000)” with 95% confidence intervals?</a:t>
            </a:r>
          </a:p>
        </p:txBody>
      </p:sp>
      <p:sp>
        <p:nvSpPr>
          <p:cNvPr id="68" name="Rounded Rectangle 67">
            <a:extLst>
              <a:ext uri="{FF2B5EF4-FFF2-40B4-BE49-F238E27FC236}">
                <a16:creationId xmlns:a16="http://schemas.microsoft.com/office/drawing/2014/main" id="{4BE0DC1D-55F2-14C4-DFE8-4D721F5F5315}"/>
              </a:ext>
            </a:extLst>
          </p:cNvPr>
          <p:cNvSpPr/>
          <p:nvPr/>
        </p:nvSpPr>
        <p:spPr>
          <a:xfrm>
            <a:off x="2900831" y="3037652"/>
            <a:ext cx="1676400" cy="77893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Were these crude estimates “inflated due to non-use of chest </a:t>
            </a:r>
            <a:br>
              <a:rPr lang="en-US" sz="1050" dirty="0"/>
            </a:br>
            <a:r>
              <a:rPr lang="en-US" sz="1050" dirty="0"/>
              <a:t>X-ray during screening”?</a:t>
            </a:r>
          </a:p>
        </p:txBody>
      </p:sp>
      <p:cxnSp>
        <p:nvCxnSpPr>
          <p:cNvPr id="69" name="Straight Arrow Connector 68">
            <a:extLst>
              <a:ext uri="{FF2B5EF4-FFF2-40B4-BE49-F238E27FC236}">
                <a16:creationId xmlns:a16="http://schemas.microsoft.com/office/drawing/2014/main" id="{29748D12-2FDB-BAA2-0D58-1DA06FE6E4EA}"/>
              </a:ext>
            </a:extLst>
          </p:cNvPr>
          <p:cNvCxnSpPr>
            <a:endCxn id="68" idx="1"/>
          </p:cNvCxnSpPr>
          <p:nvPr/>
        </p:nvCxnSpPr>
        <p:spPr>
          <a:xfrm>
            <a:off x="2181163" y="3427117"/>
            <a:ext cx="71966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0" name="TextBox 69">
            <a:extLst>
              <a:ext uri="{FF2B5EF4-FFF2-40B4-BE49-F238E27FC236}">
                <a16:creationId xmlns:a16="http://schemas.microsoft.com/office/drawing/2014/main" id="{70091D91-7977-28D1-33F7-183E2C3582C1}"/>
              </a:ext>
            </a:extLst>
          </p:cNvPr>
          <p:cNvSpPr txBox="1"/>
          <p:nvPr/>
        </p:nvSpPr>
        <p:spPr>
          <a:xfrm>
            <a:off x="2316288" y="3119341"/>
            <a:ext cx="503634" cy="307777"/>
          </a:xfrm>
          <a:prstGeom prst="rect">
            <a:avLst/>
          </a:prstGeom>
          <a:noFill/>
        </p:spPr>
        <p:txBody>
          <a:bodyPr wrap="square" rtlCol="0">
            <a:spAutoFit/>
          </a:bodyPr>
          <a:lstStyle/>
          <a:p>
            <a:r>
              <a:rPr lang="en-US" sz="1400" b="1" dirty="0">
                <a:solidFill>
                  <a:schemeClr val="accent6"/>
                </a:solidFill>
              </a:rPr>
              <a:t>Yes</a:t>
            </a:r>
          </a:p>
        </p:txBody>
      </p:sp>
      <p:sp>
        <p:nvSpPr>
          <p:cNvPr id="71" name="TextBox 70">
            <a:extLst>
              <a:ext uri="{FF2B5EF4-FFF2-40B4-BE49-F238E27FC236}">
                <a16:creationId xmlns:a16="http://schemas.microsoft.com/office/drawing/2014/main" id="{17599C47-ED64-24A4-FD2A-7903F965A419}"/>
              </a:ext>
            </a:extLst>
          </p:cNvPr>
          <p:cNvSpPr txBox="1"/>
          <p:nvPr/>
        </p:nvSpPr>
        <p:spPr>
          <a:xfrm>
            <a:off x="4631006" y="3119340"/>
            <a:ext cx="449229" cy="307777"/>
          </a:xfrm>
          <a:prstGeom prst="rect">
            <a:avLst/>
          </a:prstGeom>
          <a:noFill/>
        </p:spPr>
        <p:txBody>
          <a:bodyPr wrap="square" rtlCol="0">
            <a:spAutoFit/>
          </a:bodyPr>
          <a:lstStyle/>
          <a:p>
            <a:r>
              <a:rPr lang="en-US" sz="1400" b="1" dirty="0">
                <a:solidFill>
                  <a:srgbClr val="FF0000"/>
                </a:solidFill>
              </a:rPr>
              <a:t>No</a:t>
            </a:r>
          </a:p>
        </p:txBody>
      </p:sp>
      <p:cxnSp>
        <p:nvCxnSpPr>
          <p:cNvPr id="72" name="Straight Arrow Connector 71">
            <a:extLst>
              <a:ext uri="{FF2B5EF4-FFF2-40B4-BE49-F238E27FC236}">
                <a16:creationId xmlns:a16="http://schemas.microsoft.com/office/drawing/2014/main" id="{5D9C370D-B9C3-D406-6264-52B650D7A96A}"/>
              </a:ext>
            </a:extLst>
          </p:cNvPr>
          <p:cNvCxnSpPr>
            <a:cxnSpLocks/>
            <a:stCxn id="68" idx="3"/>
            <a:endCxn id="73" idx="1"/>
          </p:cNvCxnSpPr>
          <p:nvPr/>
        </p:nvCxnSpPr>
        <p:spPr>
          <a:xfrm>
            <a:off x="4577232" y="3427119"/>
            <a:ext cx="65774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3" name="Rounded Rectangle 72">
            <a:extLst>
              <a:ext uri="{FF2B5EF4-FFF2-40B4-BE49-F238E27FC236}">
                <a16:creationId xmlns:a16="http://schemas.microsoft.com/office/drawing/2014/main" id="{9D72ECE5-5CD3-C4F7-4847-EDCB19CE6EC2}"/>
              </a:ext>
            </a:extLst>
          </p:cNvPr>
          <p:cNvSpPr/>
          <p:nvPr/>
        </p:nvSpPr>
        <p:spPr>
          <a:xfrm>
            <a:off x="5234972" y="3037652"/>
            <a:ext cx="1676400" cy="77893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Use these “crude prevalence estimates (per 100,000)” with 95% confidence intervals?</a:t>
            </a:r>
          </a:p>
        </p:txBody>
      </p:sp>
      <p:sp>
        <p:nvSpPr>
          <p:cNvPr id="75" name="TextBox 74">
            <a:extLst>
              <a:ext uri="{FF2B5EF4-FFF2-40B4-BE49-F238E27FC236}">
                <a16:creationId xmlns:a16="http://schemas.microsoft.com/office/drawing/2014/main" id="{2EDD60F9-1FB8-6513-02DA-B10EB70776F0}"/>
              </a:ext>
            </a:extLst>
          </p:cNvPr>
          <p:cNvSpPr txBox="1"/>
          <p:nvPr/>
        </p:nvSpPr>
        <p:spPr>
          <a:xfrm>
            <a:off x="5141485" y="1197929"/>
            <a:ext cx="2654702" cy="307777"/>
          </a:xfrm>
          <a:prstGeom prst="rect">
            <a:avLst/>
          </a:prstGeom>
          <a:noFill/>
        </p:spPr>
        <p:txBody>
          <a:bodyPr wrap="square" rtlCol="0">
            <a:spAutoFit/>
          </a:bodyPr>
          <a:lstStyle/>
          <a:p>
            <a:r>
              <a:rPr lang="en-US" sz="1400" b="1" dirty="0"/>
              <a:t>Estimates to be analyzed</a:t>
            </a:r>
          </a:p>
        </p:txBody>
      </p:sp>
      <p:cxnSp>
        <p:nvCxnSpPr>
          <p:cNvPr id="76" name="Straight Arrow Connector 75">
            <a:extLst>
              <a:ext uri="{FF2B5EF4-FFF2-40B4-BE49-F238E27FC236}">
                <a16:creationId xmlns:a16="http://schemas.microsoft.com/office/drawing/2014/main" id="{3A1C23DC-D10C-B3C8-A973-269850C75C61}"/>
              </a:ext>
            </a:extLst>
          </p:cNvPr>
          <p:cNvCxnSpPr>
            <a:cxnSpLocks/>
            <a:stCxn id="65" idx="2"/>
          </p:cNvCxnSpPr>
          <p:nvPr/>
        </p:nvCxnSpPr>
        <p:spPr>
          <a:xfrm>
            <a:off x="1336012" y="3611632"/>
            <a:ext cx="0" cy="5065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9444FB67-398B-E304-774E-1CA92846E543}"/>
              </a:ext>
            </a:extLst>
          </p:cNvPr>
          <p:cNvSpPr txBox="1"/>
          <p:nvPr/>
        </p:nvSpPr>
        <p:spPr>
          <a:xfrm>
            <a:off x="1410854" y="3701049"/>
            <a:ext cx="449229" cy="307777"/>
          </a:xfrm>
          <a:prstGeom prst="rect">
            <a:avLst/>
          </a:prstGeom>
          <a:noFill/>
        </p:spPr>
        <p:txBody>
          <a:bodyPr wrap="square" rtlCol="0">
            <a:spAutoFit/>
          </a:bodyPr>
          <a:lstStyle/>
          <a:p>
            <a:r>
              <a:rPr lang="en-US" sz="1400" b="1" dirty="0">
                <a:solidFill>
                  <a:srgbClr val="FF0000"/>
                </a:solidFill>
              </a:rPr>
              <a:t>No</a:t>
            </a:r>
          </a:p>
        </p:txBody>
      </p:sp>
      <p:sp>
        <p:nvSpPr>
          <p:cNvPr id="79" name="Rounded Rectangle 78">
            <a:extLst>
              <a:ext uri="{FF2B5EF4-FFF2-40B4-BE49-F238E27FC236}">
                <a16:creationId xmlns:a16="http://schemas.microsoft.com/office/drawing/2014/main" id="{98FE702F-1748-2D62-4188-CB83500EC355}"/>
              </a:ext>
            </a:extLst>
          </p:cNvPr>
          <p:cNvSpPr/>
          <p:nvPr/>
        </p:nvSpPr>
        <p:spPr>
          <a:xfrm>
            <a:off x="5246051" y="4362757"/>
            <a:ext cx="1676400" cy="77893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Use numerator and denominator to calculate prevalence per 100,000</a:t>
            </a:r>
          </a:p>
        </p:txBody>
      </p:sp>
      <p:cxnSp>
        <p:nvCxnSpPr>
          <p:cNvPr id="81" name="Elbow Connector 80">
            <a:extLst>
              <a:ext uri="{FF2B5EF4-FFF2-40B4-BE49-F238E27FC236}">
                <a16:creationId xmlns:a16="http://schemas.microsoft.com/office/drawing/2014/main" id="{F81E9D37-B7BE-E6D3-E274-606073FD486C}"/>
              </a:ext>
            </a:extLst>
          </p:cNvPr>
          <p:cNvCxnSpPr>
            <a:cxnSpLocks/>
            <a:stCxn id="68" idx="2"/>
          </p:cNvCxnSpPr>
          <p:nvPr/>
        </p:nvCxnSpPr>
        <p:spPr>
          <a:xfrm rot="5400000">
            <a:off x="2733373" y="3240137"/>
            <a:ext cx="429213" cy="158210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82" name="TextBox 81">
            <a:extLst>
              <a:ext uri="{FF2B5EF4-FFF2-40B4-BE49-F238E27FC236}">
                <a16:creationId xmlns:a16="http://schemas.microsoft.com/office/drawing/2014/main" id="{92BF6D88-E438-3CAC-945A-58FEAD236BAF}"/>
              </a:ext>
            </a:extLst>
          </p:cNvPr>
          <p:cNvSpPr txBox="1"/>
          <p:nvPr/>
        </p:nvSpPr>
        <p:spPr>
          <a:xfrm>
            <a:off x="3753124" y="3870272"/>
            <a:ext cx="503634" cy="307777"/>
          </a:xfrm>
          <a:prstGeom prst="rect">
            <a:avLst/>
          </a:prstGeom>
          <a:noFill/>
        </p:spPr>
        <p:txBody>
          <a:bodyPr wrap="square" rtlCol="0">
            <a:spAutoFit/>
          </a:bodyPr>
          <a:lstStyle/>
          <a:p>
            <a:r>
              <a:rPr lang="en-US" sz="1400" b="1" dirty="0">
                <a:solidFill>
                  <a:schemeClr val="accent6"/>
                </a:solidFill>
              </a:rPr>
              <a:t>Yes</a:t>
            </a:r>
          </a:p>
        </p:txBody>
      </p:sp>
      <p:sp>
        <p:nvSpPr>
          <p:cNvPr id="89" name="Rounded Rectangle 88">
            <a:extLst>
              <a:ext uri="{FF2B5EF4-FFF2-40B4-BE49-F238E27FC236}">
                <a16:creationId xmlns:a16="http://schemas.microsoft.com/office/drawing/2014/main" id="{187C449C-176F-FA37-D494-07274DFD9C55}"/>
              </a:ext>
            </a:extLst>
          </p:cNvPr>
          <p:cNvSpPr/>
          <p:nvPr/>
        </p:nvSpPr>
        <p:spPr>
          <a:xfrm>
            <a:off x="5257928" y="5652821"/>
            <a:ext cx="1676400" cy="77893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Use numerator and </a:t>
            </a:r>
            <a:br>
              <a:rPr lang="en-US" sz="1050" dirty="0"/>
            </a:br>
            <a:r>
              <a:rPr lang="en-US" sz="1050" dirty="0"/>
              <a:t>“adjusted prevalence estimates”</a:t>
            </a:r>
          </a:p>
        </p:txBody>
      </p:sp>
      <p:sp>
        <p:nvSpPr>
          <p:cNvPr id="92" name="Rounded Rectangle 91">
            <a:extLst>
              <a:ext uri="{FF2B5EF4-FFF2-40B4-BE49-F238E27FC236}">
                <a16:creationId xmlns:a16="http://schemas.microsoft.com/office/drawing/2014/main" id="{55C35F1E-800A-912D-BABF-CD8FF05A2F33}"/>
              </a:ext>
            </a:extLst>
          </p:cNvPr>
          <p:cNvSpPr/>
          <p:nvPr/>
        </p:nvSpPr>
        <p:spPr>
          <a:xfrm>
            <a:off x="5280611" y="8103035"/>
            <a:ext cx="1676400" cy="77893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Exclude from meta-analysis of this strata</a:t>
            </a:r>
          </a:p>
        </p:txBody>
      </p:sp>
      <p:sp>
        <p:nvSpPr>
          <p:cNvPr id="94" name="TextBox 93">
            <a:extLst>
              <a:ext uri="{FF2B5EF4-FFF2-40B4-BE49-F238E27FC236}">
                <a16:creationId xmlns:a16="http://schemas.microsoft.com/office/drawing/2014/main" id="{F286C95E-1325-43BB-55BC-04FC99E02E9B}"/>
              </a:ext>
            </a:extLst>
          </p:cNvPr>
          <p:cNvSpPr txBox="1"/>
          <p:nvPr/>
        </p:nvSpPr>
        <p:spPr>
          <a:xfrm>
            <a:off x="3741321" y="2498124"/>
            <a:ext cx="503634" cy="307777"/>
          </a:xfrm>
          <a:prstGeom prst="rect">
            <a:avLst/>
          </a:prstGeom>
          <a:noFill/>
        </p:spPr>
        <p:txBody>
          <a:bodyPr wrap="square" rtlCol="0">
            <a:spAutoFit/>
          </a:bodyPr>
          <a:lstStyle/>
          <a:p>
            <a:r>
              <a:rPr lang="en-US" sz="1400" b="1" dirty="0">
                <a:solidFill>
                  <a:schemeClr val="accent6"/>
                </a:solidFill>
              </a:rPr>
              <a:t>Yes</a:t>
            </a:r>
          </a:p>
        </p:txBody>
      </p:sp>
      <p:sp>
        <p:nvSpPr>
          <p:cNvPr id="99" name="Rounded Rectangle 98">
            <a:extLst>
              <a:ext uri="{FF2B5EF4-FFF2-40B4-BE49-F238E27FC236}">
                <a16:creationId xmlns:a16="http://schemas.microsoft.com/office/drawing/2014/main" id="{C43DAD8F-86AE-4F78-0EFA-7CC54E0FE2A9}"/>
              </a:ext>
            </a:extLst>
          </p:cNvPr>
          <p:cNvSpPr/>
          <p:nvPr/>
        </p:nvSpPr>
        <p:spPr>
          <a:xfrm>
            <a:off x="2911909" y="5676244"/>
            <a:ext cx="1676400" cy="77893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Are there also “adjusted prevalence estimates” without 95% confidence intervals?</a:t>
            </a:r>
          </a:p>
        </p:txBody>
      </p:sp>
      <p:cxnSp>
        <p:nvCxnSpPr>
          <p:cNvPr id="103" name="Straight Arrow Connector 102">
            <a:extLst>
              <a:ext uri="{FF2B5EF4-FFF2-40B4-BE49-F238E27FC236}">
                <a16:creationId xmlns:a16="http://schemas.microsoft.com/office/drawing/2014/main" id="{67A5A0BB-5DA5-B00B-1D4E-5C33235A1C39}"/>
              </a:ext>
            </a:extLst>
          </p:cNvPr>
          <p:cNvCxnSpPr>
            <a:cxnSpLocks/>
            <a:stCxn id="99" idx="3"/>
          </p:cNvCxnSpPr>
          <p:nvPr/>
        </p:nvCxnSpPr>
        <p:spPr>
          <a:xfrm>
            <a:off x="4588311" y="6065709"/>
            <a:ext cx="65774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4" name="TextBox 103">
            <a:extLst>
              <a:ext uri="{FF2B5EF4-FFF2-40B4-BE49-F238E27FC236}">
                <a16:creationId xmlns:a16="http://schemas.microsoft.com/office/drawing/2014/main" id="{64CC5146-6D60-4014-A6F6-0704550FD2A3}"/>
              </a:ext>
            </a:extLst>
          </p:cNvPr>
          <p:cNvSpPr txBox="1"/>
          <p:nvPr/>
        </p:nvSpPr>
        <p:spPr>
          <a:xfrm>
            <a:off x="3753569" y="6532632"/>
            <a:ext cx="449229" cy="307777"/>
          </a:xfrm>
          <a:prstGeom prst="rect">
            <a:avLst/>
          </a:prstGeom>
          <a:noFill/>
        </p:spPr>
        <p:txBody>
          <a:bodyPr wrap="square" rtlCol="0">
            <a:spAutoFit/>
          </a:bodyPr>
          <a:lstStyle/>
          <a:p>
            <a:r>
              <a:rPr lang="en-US" sz="1400" b="1" dirty="0">
                <a:solidFill>
                  <a:srgbClr val="FF0000"/>
                </a:solidFill>
              </a:rPr>
              <a:t>No</a:t>
            </a:r>
          </a:p>
        </p:txBody>
      </p:sp>
      <p:sp>
        <p:nvSpPr>
          <p:cNvPr id="105" name="TextBox 104">
            <a:extLst>
              <a:ext uri="{FF2B5EF4-FFF2-40B4-BE49-F238E27FC236}">
                <a16:creationId xmlns:a16="http://schemas.microsoft.com/office/drawing/2014/main" id="{C3BF4FC8-8858-0717-77F1-EA9A0279BE97}"/>
              </a:ext>
            </a:extLst>
          </p:cNvPr>
          <p:cNvSpPr txBox="1"/>
          <p:nvPr/>
        </p:nvSpPr>
        <p:spPr>
          <a:xfrm>
            <a:off x="4604003" y="5745916"/>
            <a:ext cx="503634" cy="307777"/>
          </a:xfrm>
          <a:prstGeom prst="rect">
            <a:avLst/>
          </a:prstGeom>
          <a:noFill/>
        </p:spPr>
        <p:txBody>
          <a:bodyPr wrap="square" rtlCol="0">
            <a:spAutoFit/>
          </a:bodyPr>
          <a:lstStyle/>
          <a:p>
            <a:r>
              <a:rPr lang="en-US" sz="1400" b="1" dirty="0">
                <a:solidFill>
                  <a:schemeClr val="accent6"/>
                </a:solidFill>
              </a:rPr>
              <a:t>Yes</a:t>
            </a:r>
          </a:p>
        </p:txBody>
      </p:sp>
      <p:cxnSp>
        <p:nvCxnSpPr>
          <p:cNvPr id="107" name="Straight Arrow Connector 106">
            <a:extLst>
              <a:ext uri="{FF2B5EF4-FFF2-40B4-BE49-F238E27FC236}">
                <a16:creationId xmlns:a16="http://schemas.microsoft.com/office/drawing/2014/main" id="{8736E0C6-6661-75B3-B067-27D80CD4DE9B}"/>
              </a:ext>
            </a:extLst>
          </p:cNvPr>
          <p:cNvCxnSpPr>
            <a:cxnSpLocks/>
          </p:cNvCxnSpPr>
          <p:nvPr/>
        </p:nvCxnSpPr>
        <p:spPr>
          <a:xfrm>
            <a:off x="3755379" y="6458487"/>
            <a:ext cx="0" cy="5065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8" name="Rounded Rectangle 107">
            <a:extLst>
              <a:ext uri="{FF2B5EF4-FFF2-40B4-BE49-F238E27FC236}">
                <a16:creationId xmlns:a16="http://schemas.microsoft.com/office/drawing/2014/main" id="{35C39175-AB9D-8BD9-BA19-782BFE087CD6}"/>
              </a:ext>
            </a:extLst>
          </p:cNvPr>
          <p:cNvSpPr/>
          <p:nvPr/>
        </p:nvSpPr>
        <p:spPr>
          <a:xfrm>
            <a:off x="2922310" y="6996759"/>
            <a:ext cx="1676400" cy="77893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Are there also “crude prevalence estimates” without 95% confidence intervals?</a:t>
            </a:r>
          </a:p>
        </p:txBody>
      </p:sp>
      <p:sp>
        <p:nvSpPr>
          <p:cNvPr id="110" name="TextBox 109">
            <a:extLst>
              <a:ext uri="{FF2B5EF4-FFF2-40B4-BE49-F238E27FC236}">
                <a16:creationId xmlns:a16="http://schemas.microsoft.com/office/drawing/2014/main" id="{E0FBBEC3-5396-1F1A-E5A4-40FF490C9692}"/>
              </a:ext>
            </a:extLst>
          </p:cNvPr>
          <p:cNvSpPr txBox="1"/>
          <p:nvPr/>
        </p:nvSpPr>
        <p:spPr>
          <a:xfrm>
            <a:off x="3757686" y="7881633"/>
            <a:ext cx="449229" cy="307777"/>
          </a:xfrm>
          <a:prstGeom prst="rect">
            <a:avLst/>
          </a:prstGeom>
          <a:noFill/>
        </p:spPr>
        <p:txBody>
          <a:bodyPr wrap="square" rtlCol="0">
            <a:spAutoFit/>
          </a:bodyPr>
          <a:lstStyle/>
          <a:p>
            <a:r>
              <a:rPr lang="en-US" sz="1400" b="1" dirty="0">
                <a:solidFill>
                  <a:srgbClr val="FF0000"/>
                </a:solidFill>
              </a:rPr>
              <a:t>No</a:t>
            </a:r>
          </a:p>
        </p:txBody>
      </p:sp>
      <p:sp>
        <p:nvSpPr>
          <p:cNvPr id="111" name="Rounded Rectangle 110">
            <a:extLst>
              <a:ext uri="{FF2B5EF4-FFF2-40B4-BE49-F238E27FC236}">
                <a16:creationId xmlns:a16="http://schemas.microsoft.com/office/drawing/2014/main" id="{0A4E022B-C9E7-7836-A081-BD8A8D5F4E5F}"/>
              </a:ext>
            </a:extLst>
          </p:cNvPr>
          <p:cNvSpPr/>
          <p:nvPr/>
        </p:nvSpPr>
        <p:spPr>
          <a:xfrm>
            <a:off x="5280611" y="6947803"/>
            <a:ext cx="1676400" cy="77893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Use numerator and </a:t>
            </a:r>
            <a:br>
              <a:rPr lang="en-US" sz="1050" dirty="0"/>
            </a:br>
            <a:r>
              <a:rPr lang="en-US" sz="1050" dirty="0"/>
              <a:t>“crude prevalence estimates”</a:t>
            </a:r>
            <a:endParaRPr lang="en-US" sz="1050" dirty="0">
              <a:highlight>
                <a:srgbClr val="FFFF00"/>
              </a:highlight>
            </a:endParaRPr>
          </a:p>
        </p:txBody>
      </p:sp>
      <p:cxnSp>
        <p:nvCxnSpPr>
          <p:cNvPr id="112" name="Straight Arrow Connector 111">
            <a:extLst>
              <a:ext uri="{FF2B5EF4-FFF2-40B4-BE49-F238E27FC236}">
                <a16:creationId xmlns:a16="http://schemas.microsoft.com/office/drawing/2014/main" id="{82BA1C61-DEFB-B162-A2EF-483E629BC4AF}"/>
              </a:ext>
            </a:extLst>
          </p:cNvPr>
          <p:cNvCxnSpPr>
            <a:cxnSpLocks/>
          </p:cNvCxnSpPr>
          <p:nvPr/>
        </p:nvCxnSpPr>
        <p:spPr>
          <a:xfrm>
            <a:off x="4602830" y="7360691"/>
            <a:ext cx="65774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3" name="TextBox 112">
            <a:extLst>
              <a:ext uri="{FF2B5EF4-FFF2-40B4-BE49-F238E27FC236}">
                <a16:creationId xmlns:a16="http://schemas.microsoft.com/office/drawing/2014/main" id="{57347FF4-A07D-B1A1-2FE2-EC2C9C6E8978}"/>
              </a:ext>
            </a:extLst>
          </p:cNvPr>
          <p:cNvSpPr txBox="1"/>
          <p:nvPr/>
        </p:nvSpPr>
        <p:spPr>
          <a:xfrm>
            <a:off x="4606744" y="7051629"/>
            <a:ext cx="503634" cy="307777"/>
          </a:xfrm>
          <a:prstGeom prst="rect">
            <a:avLst/>
          </a:prstGeom>
          <a:noFill/>
        </p:spPr>
        <p:txBody>
          <a:bodyPr wrap="square" rtlCol="0">
            <a:spAutoFit/>
          </a:bodyPr>
          <a:lstStyle/>
          <a:p>
            <a:r>
              <a:rPr lang="en-US" sz="1400" b="1" dirty="0">
                <a:solidFill>
                  <a:schemeClr val="accent6"/>
                </a:solidFill>
              </a:rPr>
              <a:t>Yes</a:t>
            </a:r>
          </a:p>
        </p:txBody>
      </p:sp>
      <p:sp>
        <p:nvSpPr>
          <p:cNvPr id="114" name="Rounded Rectangle 113">
            <a:extLst>
              <a:ext uri="{FF2B5EF4-FFF2-40B4-BE49-F238E27FC236}">
                <a16:creationId xmlns:a16="http://schemas.microsoft.com/office/drawing/2014/main" id="{8695691A-B3F8-B3C6-A56E-86F24ED752BE}"/>
              </a:ext>
            </a:extLst>
          </p:cNvPr>
          <p:cNvSpPr/>
          <p:nvPr/>
        </p:nvSpPr>
        <p:spPr>
          <a:xfrm>
            <a:off x="473558" y="4149498"/>
            <a:ext cx="1676400" cy="77893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Are there number of cases (numerators)</a:t>
            </a:r>
          </a:p>
        </p:txBody>
      </p:sp>
      <p:sp>
        <p:nvSpPr>
          <p:cNvPr id="115" name="Rounded Rectangle 114">
            <a:extLst>
              <a:ext uri="{FF2B5EF4-FFF2-40B4-BE49-F238E27FC236}">
                <a16:creationId xmlns:a16="http://schemas.microsoft.com/office/drawing/2014/main" id="{40130084-CE91-90D6-5091-13FDB4BC2E6E}"/>
              </a:ext>
            </a:extLst>
          </p:cNvPr>
          <p:cNvSpPr/>
          <p:nvPr/>
        </p:nvSpPr>
        <p:spPr>
          <a:xfrm>
            <a:off x="2900832" y="4359448"/>
            <a:ext cx="1676400" cy="77893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050" dirty="0"/>
              <a:t>Are there also number of participants (denominators)</a:t>
            </a:r>
          </a:p>
        </p:txBody>
      </p:sp>
      <p:cxnSp>
        <p:nvCxnSpPr>
          <p:cNvPr id="116" name="Straight Arrow Connector 115">
            <a:extLst>
              <a:ext uri="{FF2B5EF4-FFF2-40B4-BE49-F238E27FC236}">
                <a16:creationId xmlns:a16="http://schemas.microsoft.com/office/drawing/2014/main" id="{27B9A940-1A33-0390-2A6E-E577CE88A7F7}"/>
              </a:ext>
            </a:extLst>
          </p:cNvPr>
          <p:cNvCxnSpPr>
            <a:cxnSpLocks/>
          </p:cNvCxnSpPr>
          <p:nvPr/>
        </p:nvCxnSpPr>
        <p:spPr>
          <a:xfrm>
            <a:off x="2152588" y="4748913"/>
            <a:ext cx="71966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7" name="TextBox 116">
            <a:extLst>
              <a:ext uri="{FF2B5EF4-FFF2-40B4-BE49-F238E27FC236}">
                <a16:creationId xmlns:a16="http://schemas.microsoft.com/office/drawing/2014/main" id="{3A2B42F1-4FB5-0069-53C1-C0C6FF61E834}"/>
              </a:ext>
            </a:extLst>
          </p:cNvPr>
          <p:cNvSpPr txBox="1"/>
          <p:nvPr/>
        </p:nvSpPr>
        <p:spPr>
          <a:xfrm>
            <a:off x="2316289" y="4441137"/>
            <a:ext cx="503634" cy="307777"/>
          </a:xfrm>
          <a:prstGeom prst="rect">
            <a:avLst/>
          </a:prstGeom>
          <a:noFill/>
        </p:spPr>
        <p:txBody>
          <a:bodyPr wrap="square" rtlCol="0">
            <a:spAutoFit/>
          </a:bodyPr>
          <a:lstStyle/>
          <a:p>
            <a:r>
              <a:rPr lang="en-US" sz="1400" b="1" dirty="0">
                <a:solidFill>
                  <a:schemeClr val="accent6"/>
                </a:solidFill>
              </a:rPr>
              <a:t>Yes</a:t>
            </a:r>
          </a:p>
        </p:txBody>
      </p:sp>
      <p:cxnSp>
        <p:nvCxnSpPr>
          <p:cNvPr id="118" name="Straight Arrow Connector 117">
            <a:extLst>
              <a:ext uri="{FF2B5EF4-FFF2-40B4-BE49-F238E27FC236}">
                <a16:creationId xmlns:a16="http://schemas.microsoft.com/office/drawing/2014/main" id="{08164AFE-529B-FEC4-4B7B-0BA4175A8F25}"/>
              </a:ext>
            </a:extLst>
          </p:cNvPr>
          <p:cNvCxnSpPr>
            <a:cxnSpLocks/>
            <a:stCxn id="115" idx="3"/>
          </p:cNvCxnSpPr>
          <p:nvPr/>
        </p:nvCxnSpPr>
        <p:spPr>
          <a:xfrm>
            <a:off x="4577234" y="4748913"/>
            <a:ext cx="65774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9" name="TextBox 118">
            <a:extLst>
              <a:ext uri="{FF2B5EF4-FFF2-40B4-BE49-F238E27FC236}">
                <a16:creationId xmlns:a16="http://schemas.microsoft.com/office/drawing/2014/main" id="{99461DA4-5A11-1082-75ED-1DC33CE33D3B}"/>
              </a:ext>
            </a:extLst>
          </p:cNvPr>
          <p:cNvSpPr txBox="1"/>
          <p:nvPr/>
        </p:nvSpPr>
        <p:spPr>
          <a:xfrm>
            <a:off x="3748798" y="5228448"/>
            <a:ext cx="449229" cy="307777"/>
          </a:xfrm>
          <a:prstGeom prst="rect">
            <a:avLst/>
          </a:prstGeom>
          <a:noFill/>
        </p:spPr>
        <p:txBody>
          <a:bodyPr wrap="square" rtlCol="0">
            <a:spAutoFit/>
          </a:bodyPr>
          <a:lstStyle/>
          <a:p>
            <a:r>
              <a:rPr lang="en-US" sz="1400" b="1" dirty="0">
                <a:solidFill>
                  <a:srgbClr val="FF0000"/>
                </a:solidFill>
              </a:rPr>
              <a:t>No</a:t>
            </a:r>
          </a:p>
        </p:txBody>
      </p:sp>
      <p:sp>
        <p:nvSpPr>
          <p:cNvPr id="120" name="TextBox 119">
            <a:extLst>
              <a:ext uri="{FF2B5EF4-FFF2-40B4-BE49-F238E27FC236}">
                <a16:creationId xmlns:a16="http://schemas.microsoft.com/office/drawing/2014/main" id="{5738FF81-3914-A7C7-6335-8FCCEBC8A81D}"/>
              </a:ext>
            </a:extLst>
          </p:cNvPr>
          <p:cNvSpPr txBox="1"/>
          <p:nvPr/>
        </p:nvSpPr>
        <p:spPr>
          <a:xfrm>
            <a:off x="4591352" y="4439851"/>
            <a:ext cx="503634" cy="307777"/>
          </a:xfrm>
          <a:prstGeom prst="rect">
            <a:avLst/>
          </a:prstGeom>
          <a:noFill/>
        </p:spPr>
        <p:txBody>
          <a:bodyPr wrap="square" rtlCol="0">
            <a:spAutoFit/>
          </a:bodyPr>
          <a:lstStyle/>
          <a:p>
            <a:r>
              <a:rPr lang="en-US" sz="1400" b="1" dirty="0">
                <a:solidFill>
                  <a:schemeClr val="accent6"/>
                </a:solidFill>
              </a:rPr>
              <a:t>Yes</a:t>
            </a:r>
          </a:p>
        </p:txBody>
      </p:sp>
      <p:cxnSp>
        <p:nvCxnSpPr>
          <p:cNvPr id="121" name="Straight Arrow Connector 120">
            <a:extLst>
              <a:ext uri="{FF2B5EF4-FFF2-40B4-BE49-F238E27FC236}">
                <a16:creationId xmlns:a16="http://schemas.microsoft.com/office/drawing/2014/main" id="{CBA6604C-5108-7BF2-9280-51B8CA5D04B1}"/>
              </a:ext>
            </a:extLst>
          </p:cNvPr>
          <p:cNvCxnSpPr>
            <a:cxnSpLocks/>
          </p:cNvCxnSpPr>
          <p:nvPr/>
        </p:nvCxnSpPr>
        <p:spPr>
          <a:xfrm>
            <a:off x="3744302" y="5141691"/>
            <a:ext cx="0" cy="5065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9" name="Elbow Connector 128">
            <a:extLst>
              <a:ext uri="{FF2B5EF4-FFF2-40B4-BE49-F238E27FC236}">
                <a16:creationId xmlns:a16="http://schemas.microsoft.com/office/drawing/2014/main" id="{2B7E6DEF-0368-26E8-D9A9-26233452A2E6}"/>
              </a:ext>
            </a:extLst>
          </p:cNvPr>
          <p:cNvCxnSpPr>
            <a:cxnSpLocks/>
          </p:cNvCxnSpPr>
          <p:nvPr/>
        </p:nvCxnSpPr>
        <p:spPr>
          <a:xfrm>
            <a:off x="1297471" y="4968763"/>
            <a:ext cx="3948581" cy="3760076"/>
          </a:xfrm>
          <a:prstGeom prst="bentConnector3">
            <a:avLst>
              <a:gd name="adj1" fmla="val 66"/>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8" name="Elbow Connector 147">
            <a:extLst>
              <a:ext uri="{FF2B5EF4-FFF2-40B4-BE49-F238E27FC236}">
                <a16:creationId xmlns:a16="http://schemas.microsoft.com/office/drawing/2014/main" id="{39CD33D3-758D-1308-72F3-55733688F993}"/>
              </a:ext>
            </a:extLst>
          </p:cNvPr>
          <p:cNvCxnSpPr>
            <a:cxnSpLocks/>
          </p:cNvCxnSpPr>
          <p:nvPr/>
        </p:nvCxnSpPr>
        <p:spPr>
          <a:xfrm rot="10800000" flipV="1">
            <a:off x="2181163" y="2350604"/>
            <a:ext cx="1545956" cy="581108"/>
          </a:xfrm>
          <a:prstGeom prst="bentConnector3">
            <a:avLst>
              <a:gd name="adj1" fmla="val -701"/>
            </a:avLst>
          </a:prstGeom>
          <a:ln>
            <a:tailEnd type="triangle"/>
          </a:ln>
        </p:spPr>
        <p:style>
          <a:lnRef idx="2">
            <a:schemeClr val="accent1"/>
          </a:lnRef>
          <a:fillRef idx="0">
            <a:schemeClr val="accent1"/>
          </a:fillRef>
          <a:effectRef idx="1">
            <a:schemeClr val="accent1"/>
          </a:effectRef>
          <a:fontRef idx="minor">
            <a:schemeClr val="tx1"/>
          </a:fontRef>
        </p:style>
      </p:cxnSp>
      <p:sp>
        <p:nvSpPr>
          <p:cNvPr id="157" name="TextBox 156">
            <a:extLst>
              <a:ext uri="{FF2B5EF4-FFF2-40B4-BE49-F238E27FC236}">
                <a16:creationId xmlns:a16="http://schemas.microsoft.com/office/drawing/2014/main" id="{49A4F806-9343-E05A-5D62-A7E3677CA7A3}"/>
              </a:ext>
            </a:extLst>
          </p:cNvPr>
          <p:cNvSpPr txBox="1"/>
          <p:nvPr/>
        </p:nvSpPr>
        <p:spPr>
          <a:xfrm>
            <a:off x="258472" y="1183305"/>
            <a:ext cx="2168983" cy="307777"/>
          </a:xfrm>
          <a:prstGeom prst="rect">
            <a:avLst/>
          </a:prstGeom>
          <a:noFill/>
        </p:spPr>
        <p:txBody>
          <a:bodyPr wrap="square" rtlCol="0">
            <a:spAutoFit/>
          </a:bodyPr>
          <a:lstStyle/>
          <a:p>
            <a:r>
              <a:rPr lang="en-US" sz="1400" b="1" dirty="0"/>
              <a:t>Does the survey report…</a:t>
            </a:r>
          </a:p>
        </p:txBody>
      </p:sp>
      <p:cxnSp>
        <p:nvCxnSpPr>
          <p:cNvPr id="162" name="Elbow Connector 161">
            <a:extLst>
              <a:ext uri="{FF2B5EF4-FFF2-40B4-BE49-F238E27FC236}">
                <a16:creationId xmlns:a16="http://schemas.microsoft.com/office/drawing/2014/main" id="{D15973A6-E8DB-29CB-0713-6E5642877926}"/>
              </a:ext>
            </a:extLst>
          </p:cNvPr>
          <p:cNvCxnSpPr>
            <a:cxnSpLocks/>
            <a:stCxn id="108" idx="2"/>
          </p:cNvCxnSpPr>
          <p:nvPr/>
        </p:nvCxnSpPr>
        <p:spPr>
          <a:xfrm rot="16200000" flipH="1">
            <a:off x="4224404" y="7311799"/>
            <a:ext cx="569630" cy="1497418"/>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165" name="TextBox 164">
            <a:extLst>
              <a:ext uri="{FF2B5EF4-FFF2-40B4-BE49-F238E27FC236}">
                <a16:creationId xmlns:a16="http://schemas.microsoft.com/office/drawing/2014/main" id="{7B361550-BCFE-50FF-52C3-73DB4DCE68A3}"/>
              </a:ext>
            </a:extLst>
          </p:cNvPr>
          <p:cNvSpPr txBox="1"/>
          <p:nvPr/>
        </p:nvSpPr>
        <p:spPr>
          <a:xfrm>
            <a:off x="6949447" y="1636549"/>
            <a:ext cx="793595" cy="646331"/>
          </a:xfrm>
          <a:prstGeom prst="rect">
            <a:avLst/>
          </a:prstGeom>
          <a:noFill/>
        </p:spPr>
        <p:txBody>
          <a:bodyPr wrap="square" rtlCol="0">
            <a:spAutoFit/>
          </a:bodyPr>
          <a:lstStyle/>
          <a:p>
            <a:pPr algn="ctr"/>
            <a:r>
              <a:rPr lang="en-US" sz="1200" b="1" dirty="0"/>
              <a:t>29</a:t>
            </a:r>
          </a:p>
          <a:p>
            <a:pPr algn="ctr"/>
            <a:r>
              <a:rPr lang="en-US" sz="1200" b="1" dirty="0"/>
              <a:t>surveys</a:t>
            </a:r>
            <a:br>
              <a:rPr lang="en-US" sz="1200" b="1" dirty="0"/>
            </a:br>
            <a:r>
              <a:rPr lang="en-US" sz="1200" b="1" dirty="0"/>
              <a:t>included</a:t>
            </a:r>
          </a:p>
        </p:txBody>
      </p:sp>
      <p:sp>
        <p:nvSpPr>
          <p:cNvPr id="166" name="TextBox 165">
            <a:extLst>
              <a:ext uri="{FF2B5EF4-FFF2-40B4-BE49-F238E27FC236}">
                <a16:creationId xmlns:a16="http://schemas.microsoft.com/office/drawing/2014/main" id="{CBC49898-A4AF-438F-5C87-B5F0DD885A85}"/>
              </a:ext>
            </a:extLst>
          </p:cNvPr>
          <p:cNvSpPr txBox="1"/>
          <p:nvPr/>
        </p:nvSpPr>
        <p:spPr>
          <a:xfrm>
            <a:off x="6918303" y="3061227"/>
            <a:ext cx="793595" cy="646331"/>
          </a:xfrm>
          <a:prstGeom prst="rect">
            <a:avLst/>
          </a:prstGeom>
          <a:noFill/>
        </p:spPr>
        <p:txBody>
          <a:bodyPr wrap="square" rtlCol="0">
            <a:spAutoFit/>
          </a:bodyPr>
          <a:lstStyle/>
          <a:p>
            <a:pPr algn="ctr"/>
            <a:r>
              <a:rPr lang="en-US" sz="1200" b="1" dirty="0"/>
              <a:t>7</a:t>
            </a:r>
          </a:p>
          <a:p>
            <a:pPr algn="ctr"/>
            <a:r>
              <a:rPr lang="en-US" sz="1200" b="1" dirty="0"/>
              <a:t>surveys</a:t>
            </a:r>
            <a:br>
              <a:rPr lang="en-US" sz="1200" b="1" dirty="0"/>
            </a:br>
            <a:r>
              <a:rPr lang="en-US" sz="1200" b="1" dirty="0"/>
              <a:t>included</a:t>
            </a:r>
          </a:p>
        </p:txBody>
      </p:sp>
      <p:sp>
        <p:nvSpPr>
          <p:cNvPr id="167" name="TextBox 166">
            <a:extLst>
              <a:ext uri="{FF2B5EF4-FFF2-40B4-BE49-F238E27FC236}">
                <a16:creationId xmlns:a16="http://schemas.microsoft.com/office/drawing/2014/main" id="{3D2B80BA-189D-2BAE-EC9A-14FF8D93C1CB}"/>
              </a:ext>
            </a:extLst>
          </p:cNvPr>
          <p:cNvSpPr txBox="1"/>
          <p:nvPr/>
        </p:nvSpPr>
        <p:spPr>
          <a:xfrm>
            <a:off x="6911373" y="4414688"/>
            <a:ext cx="793595" cy="646331"/>
          </a:xfrm>
          <a:prstGeom prst="rect">
            <a:avLst/>
          </a:prstGeom>
          <a:noFill/>
        </p:spPr>
        <p:txBody>
          <a:bodyPr wrap="square" rtlCol="0">
            <a:spAutoFit/>
          </a:bodyPr>
          <a:lstStyle/>
          <a:p>
            <a:pPr algn="ctr"/>
            <a:r>
              <a:rPr lang="en-US" sz="1200" b="1" dirty="0"/>
              <a:t>27</a:t>
            </a:r>
          </a:p>
          <a:p>
            <a:pPr algn="ctr"/>
            <a:r>
              <a:rPr lang="en-US" sz="1200" b="1" dirty="0"/>
              <a:t>surveys</a:t>
            </a:r>
            <a:br>
              <a:rPr lang="en-US" sz="1200" b="1" dirty="0"/>
            </a:br>
            <a:r>
              <a:rPr lang="en-US" sz="1200" b="1" dirty="0"/>
              <a:t>included</a:t>
            </a:r>
          </a:p>
        </p:txBody>
      </p:sp>
      <p:sp>
        <p:nvSpPr>
          <p:cNvPr id="168" name="TextBox 167">
            <a:extLst>
              <a:ext uri="{FF2B5EF4-FFF2-40B4-BE49-F238E27FC236}">
                <a16:creationId xmlns:a16="http://schemas.microsoft.com/office/drawing/2014/main" id="{C9CC0F5A-DE04-26D3-9366-C39E4D260E86}"/>
              </a:ext>
            </a:extLst>
          </p:cNvPr>
          <p:cNvSpPr txBox="1"/>
          <p:nvPr/>
        </p:nvSpPr>
        <p:spPr>
          <a:xfrm>
            <a:off x="6956331" y="5637359"/>
            <a:ext cx="793595" cy="646331"/>
          </a:xfrm>
          <a:prstGeom prst="rect">
            <a:avLst/>
          </a:prstGeom>
          <a:noFill/>
        </p:spPr>
        <p:txBody>
          <a:bodyPr wrap="square" rtlCol="0">
            <a:spAutoFit/>
          </a:bodyPr>
          <a:lstStyle/>
          <a:p>
            <a:pPr algn="ctr"/>
            <a:r>
              <a:rPr lang="en-US" sz="1200" b="1" dirty="0"/>
              <a:t>0</a:t>
            </a:r>
          </a:p>
          <a:p>
            <a:pPr algn="ctr"/>
            <a:r>
              <a:rPr lang="en-US" sz="1200" b="1" dirty="0"/>
              <a:t>surveys</a:t>
            </a:r>
            <a:br>
              <a:rPr lang="en-US" sz="1200" b="1" dirty="0"/>
            </a:br>
            <a:r>
              <a:rPr lang="en-US" sz="1200" b="1" dirty="0"/>
              <a:t>included</a:t>
            </a:r>
          </a:p>
        </p:txBody>
      </p:sp>
      <p:sp>
        <p:nvSpPr>
          <p:cNvPr id="169" name="TextBox 168">
            <a:extLst>
              <a:ext uri="{FF2B5EF4-FFF2-40B4-BE49-F238E27FC236}">
                <a16:creationId xmlns:a16="http://schemas.microsoft.com/office/drawing/2014/main" id="{E39EE8CD-1923-0C30-CAFB-7970D674A0AA}"/>
              </a:ext>
            </a:extLst>
          </p:cNvPr>
          <p:cNvSpPr txBox="1"/>
          <p:nvPr/>
        </p:nvSpPr>
        <p:spPr>
          <a:xfrm>
            <a:off x="6949446" y="6947803"/>
            <a:ext cx="793595" cy="646331"/>
          </a:xfrm>
          <a:prstGeom prst="rect">
            <a:avLst/>
          </a:prstGeom>
          <a:noFill/>
        </p:spPr>
        <p:txBody>
          <a:bodyPr wrap="square" rtlCol="0">
            <a:spAutoFit/>
          </a:bodyPr>
          <a:lstStyle/>
          <a:p>
            <a:pPr algn="ctr"/>
            <a:r>
              <a:rPr lang="en-US" sz="1200" b="1" dirty="0"/>
              <a:t>1</a:t>
            </a:r>
          </a:p>
          <a:p>
            <a:pPr algn="ctr"/>
            <a:r>
              <a:rPr lang="en-US" sz="1200" b="1" dirty="0"/>
              <a:t>survey</a:t>
            </a:r>
            <a:br>
              <a:rPr lang="en-US" sz="1200" b="1" dirty="0"/>
            </a:br>
            <a:r>
              <a:rPr lang="en-US" sz="1200" b="1" dirty="0"/>
              <a:t>included</a:t>
            </a:r>
          </a:p>
        </p:txBody>
      </p:sp>
      <p:sp>
        <p:nvSpPr>
          <p:cNvPr id="170" name="TextBox 169">
            <a:extLst>
              <a:ext uri="{FF2B5EF4-FFF2-40B4-BE49-F238E27FC236}">
                <a16:creationId xmlns:a16="http://schemas.microsoft.com/office/drawing/2014/main" id="{5EF349C9-6635-0074-638B-232F5EF153EF}"/>
              </a:ext>
            </a:extLst>
          </p:cNvPr>
          <p:cNvSpPr txBox="1"/>
          <p:nvPr/>
        </p:nvSpPr>
        <p:spPr>
          <a:xfrm>
            <a:off x="6963447" y="8103035"/>
            <a:ext cx="846564" cy="646331"/>
          </a:xfrm>
          <a:prstGeom prst="rect">
            <a:avLst/>
          </a:prstGeom>
          <a:noFill/>
        </p:spPr>
        <p:txBody>
          <a:bodyPr wrap="square" rtlCol="0">
            <a:spAutoFit/>
          </a:bodyPr>
          <a:lstStyle/>
          <a:p>
            <a:pPr algn="ctr"/>
            <a:r>
              <a:rPr lang="en-US" sz="1200" b="1" dirty="0"/>
              <a:t>43</a:t>
            </a:r>
          </a:p>
          <a:p>
            <a:pPr algn="ctr"/>
            <a:r>
              <a:rPr lang="en-US" sz="1200" b="1" dirty="0"/>
              <a:t>surveys</a:t>
            </a:r>
            <a:br>
              <a:rPr lang="en-US" sz="1200" b="1" dirty="0"/>
            </a:br>
            <a:r>
              <a:rPr lang="en-US" sz="1200" b="1" dirty="0"/>
              <a:t>excluded</a:t>
            </a:r>
          </a:p>
        </p:txBody>
      </p:sp>
      <p:sp>
        <p:nvSpPr>
          <p:cNvPr id="2" name="TextBox 1">
            <a:extLst>
              <a:ext uri="{FF2B5EF4-FFF2-40B4-BE49-F238E27FC236}">
                <a16:creationId xmlns:a16="http://schemas.microsoft.com/office/drawing/2014/main" id="{308FE6CD-474B-6CE3-6185-67BF536A65BB}"/>
              </a:ext>
            </a:extLst>
          </p:cNvPr>
          <p:cNvSpPr txBox="1"/>
          <p:nvPr/>
        </p:nvSpPr>
        <p:spPr>
          <a:xfrm>
            <a:off x="5117305" y="9246300"/>
            <a:ext cx="2654702" cy="307777"/>
          </a:xfrm>
          <a:prstGeom prst="rect">
            <a:avLst/>
          </a:prstGeom>
          <a:noFill/>
        </p:spPr>
        <p:txBody>
          <a:bodyPr wrap="square" rtlCol="0">
            <a:spAutoFit/>
          </a:bodyPr>
          <a:lstStyle/>
          <a:p>
            <a:pPr algn="ctr"/>
            <a:r>
              <a:rPr lang="en-US" sz="1400" b="1" dirty="0"/>
              <a:t>64 surveys total included</a:t>
            </a:r>
          </a:p>
        </p:txBody>
      </p:sp>
      <p:sp>
        <p:nvSpPr>
          <p:cNvPr id="3" name="TextBox 2">
            <a:extLst>
              <a:ext uri="{FF2B5EF4-FFF2-40B4-BE49-F238E27FC236}">
                <a16:creationId xmlns:a16="http://schemas.microsoft.com/office/drawing/2014/main" id="{670C720C-63FA-0DF4-8A06-1DB8463A0D96}"/>
              </a:ext>
            </a:extLst>
          </p:cNvPr>
          <p:cNvSpPr txBox="1"/>
          <p:nvPr/>
        </p:nvSpPr>
        <p:spPr>
          <a:xfrm>
            <a:off x="478135" y="8859394"/>
            <a:ext cx="4801559" cy="1015663"/>
          </a:xfrm>
          <a:prstGeom prst="rect">
            <a:avLst/>
          </a:prstGeom>
          <a:noFill/>
        </p:spPr>
        <p:txBody>
          <a:bodyPr wrap="square" rtlCol="0">
            <a:spAutoFit/>
          </a:bodyPr>
          <a:lstStyle/>
          <a:p>
            <a:r>
              <a:rPr lang="en-US" sz="1000" dirty="0"/>
              <a:t>Note: </a:t>
            </a:r>
          </a:p>
          <a:p>
            <a:r>
              <a:rPr lang="en-US" sz="1000" dirty="0"/>
              <a:t>At each step in the decision tree, we also considered the indicator of TB. Where reported, we first selected estimates of “bacteriologically positive TB”,</a:t>
            </a:r>
          </a:p>
          <a:p>
            <a:r>
              <a:rPr lang="en-US" sz="1000" dirty="0"/>
              <a:t>followed by “culture positive TB,”  then finally “smear positive TB.”</a:t>
            </a:r>
          </a:p>
          <a:p>
            <a:r>
              <a:rPr lang="en-US" sz="1000" dirty="0"/>
              <a:t>For each quantity, inclusion requires separate values for both HIV-positive </a:t>
            </a:r>
          </a:p>
          <a:p>
            <a:r>
              <a:rPr lang="en-US" sz="1000" dirty="0"/>
              <a:t>and HIV-negative status.</a:t>
            </a:r>
          </a:p>
        </p:txBody>
      </p:sp>
    </p:spTree>
    <p:extLst>
      <p:ext uri="{BB962C8B-B14F-4D97-AF65-F5344CB8AC3E}">
        <p14:creationId xmlns:p14="http://schemas.microsoft.com/office/powerpoint/2010/main" val="135499697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1565</TotalTime>
  <Words>735</Words>
  <Application>Microsoft Macintosh PowerPoint</Application>
  <PresentationFormat>Custom</PresentationFormat>
  <Paragraphs>124</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Peter MacPherson</dc:creator>
  <cp:lastModifiedBy>Swartwood, Nicole Anne</cp:lastModifiedBy>
  <cp:revision>27</cp:revision>
  <cp:lastPrinted>2025-12-31T21:44:05Z</cp:lastPrinted>
  <dcterms:created xsi:type="dcterms:W3CDTF">2024-09-06T14:00:09Z</dcterms:created>
  <dcterms:modified xsi:type="dcterms:W3CDTF">2025-12-31T21:48:57Z</dcterms:modified>
</cp:coreProperties>
</file>