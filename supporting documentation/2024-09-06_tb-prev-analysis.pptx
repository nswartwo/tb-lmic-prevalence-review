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50" d="100"/>
          <a:sy n="150" d="100"/>
        </p:scale>
        <p:origin x="8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7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10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3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1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5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7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2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58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6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E70C8-8152-AA42-B231-9775CDC57791}" type="datetimeFigureOut">
              <a:rPr lang="en-US" smtClean="0"/>
              <a:t>9/6/24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9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0F20AE-E59D-44AA-54A9-80043C3B75A8}"/>
              </a:ext>
            </a:extLst>
          </p:cNvPr>
          <p:cNvSpPr txBox="1"/>
          <p:nvPr/>
        </p:nvSpPr>
        <p:spPr>
          <a:xfrm>
            <a:off x="263806" y="134130"/>
            <a:ext cx="6330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Which estimates to use for meta-analysis of stratified prevalence?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CD51925-F061-8BDF-988B-AF1D736C3EAF}"/>
              </a:ext>
            </a:extLst>
          </p:cNvPr>
          <p:cNvSpPr/>
          <p:nvPr/>
        </p:nvSpPr>
        <p:spPr>
          <a:xfrm>
            <a:off x="263806" y="702733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“adjusted prevalence estimates (per 100,000)” with 95% confidence intervals?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BBBF49-B012-BB02-B25B-942CF823E5FB}"/>
              </a:ext>
            </a:extLst>
          </p:cNvPr>
          <p:cNvSpPr/>
          <p:nvPr/>
        </p:nvSpPr>
        <p:spPr>
          <a:xfrm>
            <a:off x="2659874" y="702733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Were these adjusted estimates “inflated due to non-use of chest X-ray”?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7C7712-9EC5-FCA2-A763-363AA14BB9B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940206" y="1092200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183AF9-0353-E78E-2413-A00C8FCF57E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102006" y="1481667"/>
            <a:ext cx="0" cy="457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388E4E-2B1D-4F3B-5B8A-D5E841FCB623}"/>
              </a:ext>
            </a:extLst>
          </p:cNvPr>
          <p:cNvSpPr txBox="1"/>
          <p:nvPr/>
        </p:nvSpPr>
        <p:spPr>
          <a:xfrm>
            <a:off x="2075331" y="784423"/>
            <a:ext cx="44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B5D9EE-2754-51A6-9D82-6621AD8E66BE}"/>
              </a:ext>
            </a:extLst>
          </p:cNvPr>
          <p:cNvSpPr txBox="1"/>
          <p:nvPr/>
        </p:nvSpPr>
        <p:spPr>
          <a:xfrm>
            <a:off x="4418624" y="784422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BCB04E-0284-0640-F5D6-D0EC5FDF70CB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4336274" y="1092200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B88B906-2B8D-FEA3-2D89-DCA6CF32737D}"/>
              </a:ext>
            </a:extLst>
          </p:cNvPr>
          <p:cNvSpPr/>
          <p:nvPr/>
        </p:nvSpPr>
        <p:spPr>
          <a:xfrm>
            <a:off x="4994015" y="702733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these “adjusted prevalence estimates (per 100,000)” with 95% confidence intervals?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DD2323-6209-B987-7608-2D1327D4BCB8}"/>
              </a:ext>
            </a:extLst>
          </p:cNvPr>
          <p:cNvSpPr txBox="1"/>
          <p:nvPr/>
        </p:nvSpPr>
        <p:spPr>
          <a:xfrm>
            <a:off x="1176848" y="1556377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8407E2B-113B-178F-2C76-9CAC3DADB014}"/>
              </a:ext>
            </a:extLst>
          </p:cNvPr>
          <p:cNvSpPr/>
          <p:nvPr/>
        </p:nvSpPr>
        <p:spPr>
          <a:xfrm>
            <a:off x="263806" y="1938866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“crude prevalence estimates (per 100,000)” with 95% confidence intervals?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B00FDABD-D045-B747-D23F-CCAB1BB73096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2409381" y="1012492"/>
            <a:ext cx="619518" cy="15578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F7821A6-2CF7-A335-1AF5-C0212FC70C29}"/>
              </a:ext>
            </a:extLst>
          </p:cNvPr>
          <p:cNvSpPr txBox="1"/>
          <p:nvPr/>
        </p:nvSpPr>
        <p:spPr>
          <a:xfrm>
            <a:off x="2075331" y="1793408"/>
            <a:ext cx="44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147EB03-4258-8760-CBDF-438ABF733446}"/>
              </a:ext>
            </a:extLst>
          </p:cNvPr>
          <p:cNvSpPr/>
          <p:nvPr/>
        </p:nvSpPr>
        <p:spPr>
          <a:xfrm>
            <a:off x="2659874" y="2208311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Were these crude estimates “inflated due to non-use of chest X-ray”?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2BC8E75-8BED-FC11-93B0-B81CD172E34D}"/>
              </a:ext>
            </a:extLst>
          </p:cNvPr>
          <p:cNvCxnSpPr>
            <a:endCxn id="26" idx="1"/>
          </p:cNvCxnSpPr>
          <p:nvPr/>
        </p:nvCxnSpPr>
        <p:spPr>
          <a:xfrm>
            <a:off x="1940206" y="2597778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9C0AAD8-72E8-F513-2F03-26DEB39C6C02}"/>
              </a:ext>
            </a:extLst>
          </p:cNvPr>
          <p:cNvSpPr txBox="1"/>
          <p:nvPr/>
        </p:nvSpPr>
        <p:spPr>
          <a:xfrm>
            <a:off x="2075331" y="2290001"/>
            <a:ext cx="44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FB3C92-4F88-C426-A2D5-1F6F94FDC3AC}"/>
              </a:ext>
            </a:extLst>
          </p:cNvPr>
          <p:cNvSpPr txBox="1"/>
          <p:nvPr/>
        </p:nvSpPr>
        <p:spPr>
          <a:xfrm>
            <a:off x="4418624" y="2290000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3D29CED-87C9-B1D5-1B89-C4C13CB7CFFA}"/>
              </a:ext>
            </a:extLst>
          </p:cNvPr>
          <p:cNvCxnSpPr>
            <a:cxnSpLocks/>
            <a:stCxn id="26" idx="3"/>
            <a:endCxn id="31" idx="1"/>
          </p:cNvCxnSpPr>
          <p:nvPr/>
        </p:nvCxnSpPr>
        <p:spPr>
          <a:xfrm>
            <a:off x="4336274" y="2597778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5E61152-0F8B-D6AA-711D-16CBE34E2E73}"/>
              </a:ext>
            </a:extLst>
          </p:cNvPr>
          <p:cNvSpPr/>
          <p:nvPr/>
        </p:nvSpPr>
        <p:spPr>
          <a:xfrm>
            <a:off x="4994015" y="2208311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these “crude prevalence estimates (per 100,000)” with 95% confidence intervals?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26F6593-3FC2-A8F2-2FD9-D2D5704470D2}"/>
              </a:ext>
            </a:extLst>
          </p:cNvPr>
          <p:cNvSpPr/>
          <p:nvPr/>
        </p:nvSpPr>
        <p:spPr>
          <a:xfrm>
            <a:off x="263806" y="3224312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numerators (number of cases) and denominators (number of people screened)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1CE21E-8303-B911-D557-75257EB829E4}"/>
              </a:ext>
            </a:extLst>
          </p:cNvPr>
          <p:cNvSpPr txBox="1"/>
          <p:nvPr/>
        </p:nvSpPr>
        <p:spPr>
          <a:xfrm>
            <a:off x="267144" y="406552"/>
            <a:ext cx="2230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5"/>
                </a:solidFill>
              </a:rPr>
              <a:t>For each strata being compared…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232963-3E5A-2181-8A17-4BB362841421}"/>
              </a:ext>
            </a:extLst>
          </p:cNvPr>
          <p:cNvSpPr txBox="1"/>
          <p:nvPr/>
        </p:nvSpPr>
        <p:spPr>
          <a:xfrm>
            <a:off x="4994015" y="407744"/>
            <a:ext cx="1707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5"/>
                </a:solidFill>
              </a:rPr>
              <a:t>Estimates to be </a:t>
            </a:r>
            <a:r>
              <a:rPr lang="en-US" sz="1100" dirty="0" err="1">
                <a:solidFill>
                  <a:schemeClr val="accent5"/>
                </a:solidFill>
              </a:rPr>
              <a:t>analysed</a:t>
            </a:r>
            <a:endParaRPr lang="en-US" sz="1100" dirty="0">
              <a:solidFill>
                <a:schemeClr val="accent5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5BE08D2-FD2A-4BDF-2926-9D7C6BEADC33}"/>
              </a:ext>
            </a:extLst>
          </p:cNvPr>
          <p:cNvCxnSpPr>
            <a:cxnSpLocks/>
            <a:stCxn id="20" idx="2"/>
            <a:endCxn id="32" idx="0"/>
          </p:cNvCxnSpPr>
          <p:nvPr/>
        </p:nvCxnSpPr>
        <p:spPr>
          <a:xfrm>
            <a:off x="1102006" y="2717800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61062EE-D3DF-E543-1897-E3B1323FEF79}"/>
              </a:ext>
            </a:extLst>
          </p:cNvPr>
          <p:cNvSpPr txBox="1"/>
          <p:nvPr/>
        </p:nvSpPr>
        <p:spPr>
          <a:xfrm>
            <a:off x="1176848" y="2807213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1BDFB4-1403-6BFA-BF17-6FA4B4F57A23}"/>
              </a:ext>
            </a:extLst>
          </p:cNvPr>
          <p:cNvCxnSpPr>
            <a:cxnSpLocks/>
          </p:cNvCxnSpPr>
          <p:nvPr/>
        </p:nvCxnSpPr>
        <p:spPr>
          <a:xfrm>
            <a:off x="1918020" y="3913052"/>
            <a:ext cx="30693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EFDF837-725E-1E46-FF49-B5146B35EDC3}"/>
              </a:ext>
            </a:extLst>
          </p:cNvPr>
          <p:cNvSpPr/>
          <p:nvPr/>
        </p:nvSpPr>
        <p:spPr>
          <a:xfrm>
            <a:off x="5009574" y="3224312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numerator and denominator to calculate prevalence per 100,000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32E722-9C08-8DD9-7E11-5955DFB0BBC2}"/>
              </a:ext>
            </a:extLst>
          </p:cNvPr>
          <p:cNvSpPr txBox="1"/>
          <p:nvPr/>
        </p:nvSpPr>
        <p:spPr>
          <a:xfrm>
            <a:off x="2053145" y="3605274"/>
            <a:ext cx="2940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Both numerators and denominators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AC6F00-21E9-1750-E8B4-54A709A5F29A}"/>
              </a:ext>
            </a:extLst>
          </p:cNvPr>
          <p:cNvSpPr txBox="1"/>
          <p:nvPr/>
        </p:nvSpPr>
        <p:spPr>
          <a:xfrm>
            <a:off x="4762851" y="1539678"/>
            <a:ext cx="21387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5"/>
                </a:solidFill>
                <a:highlight>
                  <a:srgbClr val="FFFF00"/>
                </a:highlight>
              </a:rPr>
              <a:t>What if no confidence intervals?</a:t>
            </a: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D67754EF-3582-1650-99DF-D3B52872BC2F}"/>
              </a:ext>
            </a:extLst>
          </p:cNvPr>
          <p:cNvCxnSpPr>
            <a:cxnSpLocks/>
            <a:stCxn id="26" idx="2"/>
          </p:cNvCxnSpPr>
          <p:nvPr/>
        </p:nvCxnSpPr>
        <p:spPr>
          <a:xfrm rot="5400000">
            <a:off x="2492414" y="2410797"/>
            <a:ext cx="429213" cy="15821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0057F74-C7A1-EE1D-B618-3CC95E5B679A}"/>
              </a:ext>
            </a:extLst>
          </p:cNvPr>
          <p:cNvSpPr txBox="1"/>
          <p:nvPr/>
        </p:nvSpPr>
        <p:spPr>
          <a:xfrm>
            <a:off x="2075331" y="3139394"/>
            <a:ext cx="44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DBF1F5-A1AC-CEB1-677B-C28EE8ECA742}"/>
              </a:ext>
            </a:extLst>
          </p:cNvPr>
          <p:cNvSpPr txBox="1"/>
          <p:nvPr/>
        </p:nvSpPr>
        <p:spPr>
          <a:xfrm>
            <a:off x="4919317" y="3890787"/>
            <a:ext cx="19386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5"/>
                </a:solidFill>
                <a:highlight>
                  <a:srgbClr val="FFFF00"/>
                </a:highlight>
              </a:rPr>
              <a:t>Any way to estimate uncertainty accounting for clustering?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64A98D3-C724-C854-4588-F2186D6F4712}"/>
              </a:ext>
            </a:extLst>
          </p:cNvPr>
          <p:cNvCxnSpPr>
            <a:cxnSpLocks/>
          </p:cNvCxnSpPr>
          <p:nvPr/>
        </p:nvCxnSpPr>
        <p:spPr>
          <a:xfrm>
            <a:off x="1102006" y="4003246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DB0C7AE-373A-070A-A13E-475DD4EF88E2}"/>
              </a:ext>
            </a:extLst>
          </p:cNvPr>
          <p:cNvSpPr txBox="1"/>
          <p:nvPr/>
        </p:nvSpPr>
        <p:spPr>
          <a:xfrm>
            <a:off x="1176848" y="4063341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89FDD02-51F4-9B41-2A64-76CB019F702F}"/>
              </a:ext>
            </a:extLst>
          </p:cNvPr>
          <p:cNvSpPr/>
          <p:nvPr/>
        </p:nvSpPr>
        <p:spPr>
          <a:xfrm>
            <a:off x="263806" y="4521406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numerators only (number of cases)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8B84D4-C2FC-DB94-E022-42E97130B884}"/>
              </a:ext>
            </a:extLst>
          </p:cNvPr>
          <p:cNvSpPr txBox="1"/>
          <p:nvPr/>
        </p:nvSpPr>
        <p:spPr>
          <a:xfrm>
            <a:off x="2063052" y="4612769"/>
            <a:ext cx="44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037EB7F-CFB4-C7B4-22BE-B7E0E6E02086}"/>
              </a:ext>
            </a:extLst>
          </p:cNvPr>
          <p:cNvCxnSpPr>
            <a:cxnSpLocks/>
          </p:cNvCxnSpPr>
          <p:nvPr/>
        </p:nvCxnSpPr>
        <p:spPr>
          <a:xfrm>
            <a:off x="1950113" y="4920546"/>
            <a:ext cx="30693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A2E03A6-F243-72B1-2CF1-11E28ABBECB3}"/>
              </a:ext>
            </a:extLst>
          </p:cNvPr>
          <p:cNvSpPr/>
          <p:nvPr/>
        </p:nvSpPr>
        <p:spPr>
          <a:xfrm>
            <a:off x="5025134" y="4521406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highlight>
                  <a:srgbClr val="FFFF00"/>
                </a:highlight>
              </a:rPr>
              <a:t>???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B21C1EB-2130-3901-66ED-2A6D6725D4A1}"/>
              </a:ext>
            </a:extLst>
          </p:cNvPr>
          <p:cNvCxnSpPr>
            <a:cxnSpLocks/>
          </p:cNvCxnSpPr>
          <p:nvPr/>
        </p:nvCxnSpPr>
        <p:spPr>
          <a:xfrm>
            <a:off x="1102006" y="5302832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EB9E5E8-CCB5-D271-6CD1-9B79B170A2D7}"/>
              </a:ext>
            </a:extLst>
          </p:cNvPr>
          <p:cNvSpPr txBox="1"/>
          <p:nvPr/>
        </p:nvSpPr>
        <p:spPr>
          <a:xfrm>
            <a:off x="1176848" y="5362927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C9E65A87-EFF3-A75D-6420-9A39A9246983}"/>
              </a:ext>
            </a:extLst>
          </p:cNvPr>
          <p:cNvSpPr/>
          <p:nvPr/>
        </p:nvSpPr>
        <p:spPr>
          <a:xfrm>
            <a:off x="263806" y="5820992"/>
            <a:ext cx="1676400" cy="7789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Exclude from meta-analysis of this strata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449DD9-1D48-A593-C046-20E91710979A}"/>
              </a:ext>
            </a:extLst>
          </p:cNvPr>
          <p:cNvSpPr txBox="1"/>
          <p:nvPr/>
        </p:nvSpPr>
        <p:spPr>
          <a:xfrm>
            <a:off x="2683594" y="1489120"/>
            <a:ext cx="21387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5"/>
                </a:solidFill>
                <a:highlight>
                  <a:srgbClr val="FFFF00"/>
                </a:highlight>
              </a:rPr>
              <a:t>If both strata inflated by the same amount, does it matter (for ratio estimate)?</a:t>
            </a:r>
          </a:p>
        </p:txBody>
      </p:sp>
    </p:spTree>
    <p:extLst>
      <p:ext uri="{BB962C8B-B14F-4D97-AF65-F5344CB8AC3E}">
        <p14:creationId xmlns:p14="http://schemas.microsoft.com/office/powerpoint/2010/main" val="209012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198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MacPherson</dc:creator>
  <cp:lastModifiedBy>Peter MacPherson</cp:lastModifiedBy>
  <cp:revision>12</cp:revision>
  <dcterms:created xsi:type="dcterms:W3CDTF">2024-09-06T14:00:09Z</dcterms:created>
  <dcterms:modified xsi:type="dcterms:W3CDTF">2024-09-06T14:28:30Z</dcterms:modified>
</cp:coreProperties>
</file>