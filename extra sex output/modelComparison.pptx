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60" r:id="rId4"/>
    <p:sldId id="266" r:id="rId5"/>
    <p:sldId id="257" r:id="rId6"/>
    <p:sldId id="261" r:id="rId7"/>
    <p:sldId id="258" r:id="rId8"/>
    <p:sldId id="262" r:id="rId9"/>
    <p:sldId id="259" r:id="rId10"/>
    <p:sldId id="263" r:id="rId11"/>
    <p:sldId id="265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52337-BF2C-9E40-B912-3A51298FF67B}" v="77" dt="2026-02-25T23:57:50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38"/>
  </p:normalViewPr>
  <p:slideViewPr>
    <p:cSldViewPr snapToGrid="0">
      <p:cViewPr>
        <p:scale>
          <a:sx n="161" d="100"/>
          <a:sy n="161" d="100"/>
        </p:scale>
        <p:origin x="144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rtwood, Nicole Anne" userId="77c21839-1b05-494c-87f1-350bb9c0dce4" providerId="ADAL" clId="{DAD3FA46-609C-573A-BBC9-3214EE920AC7}"/>
    <pc:docChg chg="undo custSel modSld">
      <pc:chgData name="Swartwood, Nicole Anne" userId="77c21839-1b05-494c-87f1-350bb9c0dce4" providerId="ADAL" clId="{DAD3FA46-609C-573A-BBC9-3214EE920AC7}" dt="2026-02-25T23:58:19.478" v="85" actId="255"/>
      <pc:docMkLst>
        <pc:docMk/>
      </pc:docMkLst>
      <pc:sldChg chg="modSp mod">
        <pc:chgData name="Swartwood, Nicole Anne" userId="77c21839-1b05-494c-87f1-350bb9c0dce4" providerId="ADAL" clId="{DAD3FA46-609C-573A-BBC9-3214EE920AC7}" dt="2026-02-25T23:56:40.656" v="60" actId="798"/>
        <pc:sldMkLst>
          <pc:docMk/>
          <pc:sldMk cId="2886458452" sldId="260"/>
        </pc:sldMkLst>
        <pc:graphicFrameChg chg="mod modGraphic">
          <ac:chgData name="Swartwood, Nicole Anne" userId="77c21839-1b05-494c-87f1-350bb9c0dce4" providerId="ADAL" clId="{DAD3FA46-609C-573A-BBC9-3214EE920AC7}" dt="2026-02-25T23:56:40.656" v="60" actId="798"/>
          <ac:graphicFrameMkLst>
            <pc:docMk/>
            <pc:sldMk cId="2886458452" sldId="260"/>
            <ac:graphicFrameMk id="2" creationId="{CBD51F31-F0B8-61D2-4FED-A2BC491AF90A}"/>
          </ac:graphicFrameMkLst>
        </pc:graphicFrameChg>
      </pc:sldChg>
      <pc:sldChg chg="modSp mod">
        <pc:chgData name="Swartwood, Nicole Anne" userId="77c21839-1b05-494c-87f1-350bb9c0dce4" providerId="ADAL" clId="{DAD3FA46-609C-573A-BBC9-3214EE920AC7}" dt="2026-02-25T23:58:19.478" v="85" actId="255"/>
        <pc:sldMkLst>
          <pc:docMk/>
          <pc:sldMk cId="1247720007" sldId="266"/>
        </pc:sldMkLst>
        <pc:graphicFrameChg chg="mod modGraphic">
          <ac:chgData name="Swartwood, Nicole Anne" userId="77c21839-1b05-494c-87f1-350bb9c0dce4" providerId="ADAL" clId="{DAD3FA46-609C-573A-BBC9-3214EE920AC7}" dt="2026-02-25T23:58:19.478" v="85" actId="255"/>
          <ac:graphicFrameMkLst>
            <pc:docMk/>
            <pc:sldMk cId="1247720007" sldId="266"/>
            <ac:graphicFrameMk id="2" creationId="{3E0D2468-111F-5A94-FD2C-3192BC59AD3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402E-FFCF-4341-930E-30BEA1AE9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2C6E1-063F-FFEA-7DBF-FDDF7E2C7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8D62-5FE4-8E2C-11DC-4103E438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3DB9C-9EBF-FE63-E93F-A73C3B9E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E300-6537-FBCF-EC48-AB093B77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2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4B4B-E7D6-413E-BE42-CC613008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42024-547D-5C5E-7586-8DB3FC982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AD764-757C-CE1F-B7C8-DEC679BC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EF698-F91C-733C-DCFA-17B665B59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5DD5C-3789-DC34-FDA2-6877E95B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3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79F3-8BF5-CCFA-AC86-6E614787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3A009-D851-EE65-6011-8E035244A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98C75-3B29-BAF9-5E7F-5A03B7C1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6A3C9-9091-82B6-4EF1-9298BBBC0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D65B9-C2F3-10FB-4197-F3A607A2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82594-5C87-F417-B6B9-BA9E304D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65C0-E428-C45C-5589-67B957F23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43F6B-C30C-8C01-EEB5-D538F9408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6096-CBF4-86BD-BA29-74154618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1A42E-470D-2EC5-896E-4C65628B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5E7E4-CCB9-4F75-DF99-34457708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3DCE-D6FC-7166-ADD6-038B4C6F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8A92D-E572-1126-1640-F836E88C6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49A69-EF98-6EC2-8110-3FCE3D08F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85ADE-6F8F-7061-6B22-33CEE38A6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C12B5-42C8-0C4D-4174-59F059BC2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3E290A-9500-2325-D502-8BDA9FE1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CB20C-9332-AA6D-6001-C4793729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DE1FF-862D-2BDA-22D9-E8A3BEE1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F5D3-BFD8-CE39-E8BE-9FA9125F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6C88D-C5A8-D4A6-ABFD-8822D5EF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A316F-E798-FF0C-458E-0573FBE3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D0BA0-461C-26C0-DD38-F4E2097D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55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A9A35-D1BE-3ECB-62A9-DFBFF296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73D48-3599-1BB5-EFB6-75E4A48E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B0662-37C7-02E4-1103-95671D8F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C239-F131-6DD8-C1CE-620E9152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C4E4-2314-786F-62B5-80B83175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A76E9-38C7-8946-A110-887F0AC80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81545-30B5-BCEE-F7E3-F4031B00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FB38-532F-FE5C-FC80-9CBEA29B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0D500-CCC6-5F9F-87AD-36B79E90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77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A4ED-CFB3-C842-908C-04FEB2849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28302-85F4-B772-F591-B7610591A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72C81-A9AD-FAC0-12D1-12D2194CC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52792-107C-2E6D-AFD4-B2363759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740D3-40AB-7108-1DB8-9B06F273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BE0D8-05D1-8351-676A-41CA9FB0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1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3945B-25C4-B48B-9241-1FB8A85C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D17FB-CE60-08AE-DE57-13C26F6CE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8C9DA-56E0-8A25-9C7B-5B75323B9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D4FCD-60C8-DD13-7055-121206B4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11213-16DF-D6CD-8378-D578B535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5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CC926-933F-CD79-B2B9-E9B249D11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89477-4260-41B4-2C59-8CB04701C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1A407-A620-EAC5-280B-BD11C463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01FE1-C12B-0996-BE1F-F6235B1E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EC85D-164A-2E24-A360-30CEBA91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AD94A-8EF2-AF96-F8E3-BA71AF32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E78C3-4DB8-2514-E8D8-FECAC3847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34A6B-32D7-E14D-DEF3-9CB18404E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D0ADD-C951-B54E-BBED-70858F5686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8F492-22E2-3749-B5BF-D883E8480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F3BB-E5AF-26DF-DC5D-ACC45297D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001A0-8C23-D348-A209-ACB9EAD0A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51E2-FAA8-BA77-F33F-BE6B4087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Multi-variable covariate 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0BC63-7231-D7DF-031C-581B47AFD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868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Two different priors for covariate betas: </a:t>
            </a:r>
          </a:p>
          <a:p>
            <a:pPr lvl="1"/>
            <a:r>
              <a:rPr lang="en-US" dirty="0"/>
              <a:t>normal(0,1) and normal (0,10) [submitted paper used normal (0,10)]</a:t>
            </a:r>
          </a:p>
          <a:p>
            <a:pPr lvl="1"/>
            <a:endParaRPr lang="en-US" dirty="0"/>
          </a:p>
          <a:p>
            <a:r>
              <a:rPr lang="en-US" dirty="0"/>
              <a:t>Reducing included surveys to either: </a:t>
            </a:r>
          </a:p>
          <a:p>
            <a:pPr lvl="1"/>
            <a:r>
              <a:rPr lang="en-US" dirty="0"/>
              <a:t>Only nationally representative </a:t>
            </a:r>
          </a:p>
          <a:p>
            <a:pPr lvl="1"/>
            <a:r>
              <a:rPr lang="en-US" dirty="0"/>
              <a:t>Only those with GBD data at a subnational level </a:t>
            </a:r>
          </a:p>
          <a:p>
            <a:pPr lvl="2"/>
            <a:r>
              <a:rPr lang="en-US" dirty="0"/>
              <a:t>Note: GDI is only a national measure and would remain a national measure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2092D1-59DF-D625-285D-E9369C361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341964"/>
              </p:ext>
            </p:extLst>
          </p:nvPr>
        </p:nvGraphicFramePr>
        <p:xfrm>
          <a:off x="1330250" y="4887690"/>
          <a:ext cx="975951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6585">
                  <a:extLst>
                    <a:ext uri="{9D8B030D-6E8A-4147-A177-3AD203B41FA5}">
                      <a16:colId xmlns:a16="http://schemas.microsoft.com/office/drawing/2014/main" val="1158257352"/>
                    </a:ext>
                  </a:extLst>
                </a:gridCol>
                <a:gridCol w="1626585">
                  <a:extLst>
                    <a:ext uri="{9D8B030D-6E8A-4147-A177-3AD203B41FA5}">
                      <a16:colId xmlns:a16="http://schemas.microsoft.com/office/drawing/2014/main" val="3353801934"/>
                    </a:ext>
                  </a:extLst>
                </a:gridCol>
                <a:gridCol w="1626585">
                  <a:extLst>
                    <a:ext uri="{9D8B030D-6E8A-4147-A177-3AD203B41FA5}">
                      <a16:colId xmlns:a16="http://schemas.microsoft.com/office/drawing/2014/main" val="1702028757"/>
                    </a:ext>
                  </a:extLst>
                </a:gridCol>
                <a:gridCol w="1626585">
                  <a:extLst>
                    <a:ext uri="{9D8B030D-6E8A-4147-A177-3AD203B41FA5}">
                      <a16:colId xmlns:a16="http://schemas.microsoft.com/office/drawing/2014/main" val="2935517357"/>
                    </a:ext>
                  </a:extLst>
                </a:gridCol>
                <a:gridCol w="1626585">
                  <a:extLst>
                    <a:ext uri="{9D8B030D-6E8A-4147-A177-3AD203B41FA5}">
                      <a16:colId xmlns:a16="http://schemas.microsoft.com/office/drawing/2014/main" val="902297701"/>
                    </a:ext>
                  </a:extLst>
                </a:gridCol>
                <a:gridCol w="1626585">
                  <a:extLst>
                    <a:ext uri="{9D8B030D-6E8A-4147-A177-3AD203B41FA5}">
                      <a16:colId xmlns:a16="http://schemas.microsoft.com/office/drawing/2014/main" val="81615362"/>
                    </a:ext>
                  </a:extLst>
                </a:gridCol>
              </a:tblGrid>
              <a:tr h="5043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Africa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Americas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East. Med.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Western Pacific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247922"/>
                  </a:ext>
                </a:extLst>
              </a:tr>
              <a:tr h="504370">
                <a:tc>
                  <a:txBody>
                    <a:bodyPr/>
                    <a:lstStyle/>
                    <a:p>
                      <a:r>
                        <a:rPr lang="en-US" dirty="0"/>
                        <a:t>National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Survey=15</a:t>
                      </a:r>
                      <a:br>
                        <a:rPr lang="en-US" dirty="0"/>
                      </a:br>
                      <a:r>
                        <a:rPr lang="en-US" dirty="0"/>
                        <a:t>Country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Country=0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Country=2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Survey=10</a:t>
                      </a:r>
                      <a:br>
                        <a:rPr lang="en-US" dirty="0"/>
                      </a:br>
                      <a:r>
                        <a:rPr lang="en-US" dirty="0"/>
                        <a:t>Country=6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Survey=11</a:t>
                      </a:r>
                      <a:br>
                        <a:rPr lang="en-US" dirty="0"/>
                      </a:br>
                      <a:r>
                        <a:rPr lang="en-US" dirty="0"/>
                        <a:t>Country=6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7186"/>
                  </a:ext>
                </a:extLst>
              </a:tr>
              <a:tr h="504370">
                <a:tc>
                  <a:txBody>
                    <a:bodyPr/>
                    <a:lstStyle/>
                    <a:p>
                      <a:r>
                        <a:rPr lang="en-US" dirty="0"/>
                        <a:t>All with GBD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Survey=29</a:t>
                      </a:r>
                      <a:br>
                        <a:rPr lang="en-US" dirty="0"/>
                      </a:br>
                      <a:r>
                        <a:rPr lang="en-US" dirty="0"/>
                        <a:t>Country =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Survey=1</a:t>
                      </a:r>
                    </a:p>
                    <a:p>
                      <a:r>
                        <a:rPr lang="en-US" dirty="0"/>
                        <a:t>Country=1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Survey=4</a:t>
                      </a:r>
                      <a:br>
                        <a:rPr lang="en-US" dirty="0"/>
                      </a:br>
                      <a:r>
                        <a:rPr lang="en-US" dirty="0"/>
                        <a:t>Country=2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Survey=35</a:t>
                      </a:r>
                      <a:br>
                        <a:rPr lang="en-US" dirty="0"/>
                      </a:br>
                      <a:r>
                        <a:rPr lang="en-US" dirty="0"/>
                        <a:t>Country=6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Survey=11</a:t>
                      </a:r>
                      <a:br>
                        <a:rPr lang="en-US" dirty="0"/>
                      </a:br>
                      <a:r>
                        <a:rPr lang="en-US" dirty="0"/>
                        <a:t>Country=6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966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91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5E59B5-3596-3D18-B316-129351EA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90" y="0"/>
            <a:ext cx="11486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D51F31-F0B8-61D2-4FED-A2BC491AF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62286"/>
              </p:ext>
            </p:extLst>
          </p:nvPr>
        </p:nvGraphicFramePr>
        <p:xfrm>
          <a:off x="643467" y="637953"/>
          <a:ext cx="10958602" cy="5557867"/>
        </p:xfrm>
        <a:graphic>
          <a:graphicData uri="http://schemas.openxmlformats.org/drawingml/2006/table">
            <a:tbl>
              <a:tblPr/>
              <a:tblGrid>
                <a:gridCol w="2004040">
                  <a:extLst>
                    <a:ext uri="{9D8B030D-6E8A-4147-A177-3AD203B41FA5}">
                      <a16:colId xmlns:a16="http://schemas.microsoft.com/office/drawing/2014/main" val="1051125694"/>
                    </a:ext>
                  </a:extLst>
                </a:gridCol>
                <a:gridCol w="1380692">
                  <a:extLst>
                    <a:ext uri="{9D8B030D-6E8A-4147-A177-3AD203B41FA5}">
                      <a16:colId xmlns:a16="http://schemas.microsoft.com/office/drawing/2014/main" val="2783763306"/>
                    </a:ext>
                  </a:extLst>
                </a:gridCol>
                <a:gridCol w="997398">
                  <a:extLst>
                    <a:ext uri="{9D8B030D-6E8A-4147-A177-3AD203B41FA5}">
                      <a16:colId xmlns:a16="http://schemas.microsoft.com/office/drawing/2014/main" val="2078847738"/>
                    </a:ext>
                  </a:extLst>
                </a:gridCol>
                <a:gridCol w="1249728">
                  <a:extLst>
                    <a:ext uri="{9D8B030D-6E8A-4147-A177-3AD203B41FA5}">
                      <a16:colId xmlns:a16="http://schemas.microsoft.com/office/drawing/2014/main" val="3633502244"/>
                    </a:ext>
                  </a:extLst>
                </a:gridCol>
                <a:gridCol w="943866">
                  <a:extLst>
                    <a:ext uri="{9D8B030D-6E8A-4147-A177-3AD203B41FA5}">
                      <a16:colId xmlns:a16="http://schemas.microsoft.com/office/drawing/2014/main" val="3070721705"/>
                    </a:ext>
                  </a:extLst>
                </a:gridCol>
                <a:gridCol w="1258344">
                  <a:extLst>
                    <a:ext uri="{9D8B030D-6E8A-4147-A177-3AD203B41FA5}">
                      <a16:colId xmlns:a16="http://schemas.microsoft.com/office/drawing/2014/main" val="536598921"/>
                    </a:ext>
                  </a:extLst>
                </a:gridCol>
                <a:gridCol w="1038640">
                  <a:extLst>
                    <a:ext uri="{9D8B030D-6E8A-4147-A177-3AD203B41FA5}">
                      <a16:colId xmlns:a16="http://schemas.microsoft.com/office/drawing/2014/main" val="1794984491"/>
                    </a:ext>
                  </a:extLst>
                </a:gridCol>
                <a:gridCol w="1152799">
                  <a:extLst>
                    <a:ext uri="{9D8B030D-6E8A-4147-A177-3AD203B41FA5}">
                      <a16:colId xmlns:a16="http://schemas.microsoft.com/office/drawing/2014/main" val="447859217"/>
                    </a:ext>
                  </a:extLst>
                </a:gridCol>
                <a:gridCol w="933095">
                  <a:extLst>
                    <a:ext uri="{9D8B030D-6E8A-4147-A177-3AD203B41FA5}">
                      <a16:colId xmlns:a16="http://schemas.microsoft.com/office/drawing/2014/main" val="488922302"/>
                    </a:ext>
                  </a:extLst>
                </a:gridCol>
              </a:tblGrid>
              <a:tr h="13446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Parameter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normal(0,10)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normal(0,10)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7206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Intercept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2.16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(1.87 , 2.50)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(1.97 , 2.60)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1.98 , 2.75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1.99 , 2.73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69128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year_z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(0.99 , 1.05)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1.01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(0.98 , 1.04)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0.98 , 1.03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0.98 , 1.03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767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GDI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1.15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(0.95 , 1.39)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(1.02 , 1.39)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0.98 , 1.37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0.98 , 1.38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86582"/>
                  </a:ext>
                </a:extLst>
              </a:tr>
              <a:tr h="589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alcohol.use.disorder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(0.89 , 1.11)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(0.89 , 1.11)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0.92 , 1.15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1.03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0.92 , 1.16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85861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type2.diabetes.mellitus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(0.83 , 1.13)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(0.89 , 1.09)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0.95 , 1.12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1.03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0.95 , 1.12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56010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(0.75 , 1.02)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0.86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(0.75 , 0.99)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0.75 , 1.01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0.75 , 1.01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1509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HIV.AIDS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1.08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(0.93 , 1.27)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1.07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(0.95 , 1.20)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0.94 , 1.18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0.94 , 1.19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568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smoking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1.12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(0.97 , 1.28)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(0.96 , 1.24)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0.94 , 1.24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0.94 , 1.24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56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5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8FDC-6D78-2D89-DC07-781EA422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0D2468-111F-5A94-FD2C-3192BC59A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22091"/>
              </p:ext>
            </p:extLst>
          </p:nvPr>
        </p:nvGraphicFramePr>
        <p:xfrm>
          <a:off x="623146" y="119793"/>
          <a:ext cx="10745894" cy="5486402"/>
        </p:xfrm>
        <a:graphic>
          <a:graphicData uri="http://schemas.openxmlformats.org/drawingml/2006/table">
            <a:tbl>
              <a:tblPr/>
              <a:tblGrid>
                <a:gridCol w="2441861">
                  <a:extLst>
                    <a:ext uri="{9D8B030D-6E8A-4147-A177-3AD203B41FA5}">
                      <a16:colId xmlns:a16="http://schemas.microsoft.com/office/drawing/2014/main" val="1051125694"/>
                    </a:ext>
                  </a:extLst>
                </a:gridCol>
                <a:gridCol w="1682330">
                  <a:extLst>
                    <a:ext uri="{9D8B030D-6E8A-4147-A177-3AD203B41FA5}">
                      <a16:colId xmlns:a16="http://schemas.microsoft.com/office/drawing/2014/main" val="2783763306"/>
                    </a:ext>
                  </a:extLst>
                </a:gridCol>
                <a:gridCol w="1150072">
                  <a:extLst>
                    <a:ext uri="{9D8B030D-6E8A-4147-A177-3AD203B41FA5}">
                      <a16:colId xmlns:a16="http://schemas.microsoft.com/office/drawing/2014/main" val="2078847738"/>
                    </a:ext>
                  </a:extLst>
                </a:gridCol>
                <a:gridCol w="1522755">
                  <a:extLst>
                    <a:ext uri="{9D8B030D-6E8A-4147-A177-3AD203B41FA5}">
                      <a16:colId xmlns:a16="http://schemas.microsoft.com/office/drawing/2014/main" val="3633502244"/>
                    </a:ext>
                  </a:extLst>
                </a:gridCol>
                <a:gridCol w="1150072">
                  <a:extLst>
                    <a:ext uri="{9D8B030D-6E8A-4147-A177-3AD203B41FA5}">
                      <a16:colId xmlns:a16="http://schemas.microsoft.com/office/drawing/2014/main" val="3070721705"/>
                    </a:ext>
                  </a:extLst>
                </a:gridCol>
                <a:gridCol w="1533253">
                  <a:extLst>
                    <a:ext uri="{9D8B030D-6E8A-4147-A177-3AD203B41FA5}">
                      <a16:colId xmlns:a16="http://schemas.microsoft.com/office/drawing/2014/main" val="536598921"/>
                    </a:ext>
                  </a:extLst>
                </a:gridCol>
                <a:gridCol w="1265551">
                  <a:extLst>
                    <a:ext uri="{9D8B030D-6E8A-4147-A177-3AD203B41FA5}">
                      <a16:colId xmlns:a16="http://schemas.microsoft.com/office/drawing/2014/main" val="1794984491"/>
                    </a:ext>
                  </a:extLst>
                </a:gridCol>
              </a:tblGrid>
              <a:tr h="13446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Parameter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normal(0,10)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Cauchy(0, 1.25)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7206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Intercept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1.87 , 2.5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1.97 , 2.6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2.26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(1.97 , 2.6)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69128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year_z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0.99 , 1.05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1.01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0.98 , 1.04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1.01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(0.98 , 1.04)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767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GDI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1.15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0.95 , 1.39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1.02 , 1.39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(1.02 , 1.4)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865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alcohol.use.disorder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0.89 , 1.11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0.89 , 1.11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(0.89 , 1.11)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85861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type2.diabetes.mellitus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0.83 , 1.13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0.89 , 1.09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(0.89 , 1.10)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56010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0.75 , 1.02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0.86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0.75 , 0.99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(0.75 , 0.99)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1509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HIV.AIDS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0.93 , 1.27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1.07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0.95 , 1.2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1.07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(0.95 , 1.21)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568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smoking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1.12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0.97 , 1.28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0.96 , 1.24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(0.96 , 1.24)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56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72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BB84C7-73A4-E387-6921-88656B997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90" y="0"/>
            <a:ext cx="11486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BD7162-5DEA-7856-73B6-941ABDD3D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72676"/>
              </p:ext>
            </p:extLst>
          </p:nvPr>
        </p:nvGraphicFramePr>
        <p:xfrm>
          <a:off x="643467" y="637953"/>
          <a:ext cx="10905070" cy="5486402"/>
        </p:xfrm>
        <a:graphic>
          <a:graphicData uri="http://schemas.openxmlformats.org/drawingml/2006/table">
            <a:tbl>
              <a:tblPr/>
              <a:tblGrid>
                <a:gridCol w="2004040">
                  <a:extLst>
                    <a:ext uri="{9D8B030D-6E8A-4147-A177-3AD203B41FA5}">
                      <a16:colId xmlns:a16="http://schemas.microsoft.com/office/drawing/2014/main" val="1051125694"/>
                    </a:ext>
                  </a:extLst>
                </a:gridCol>
                <a:gridCol w="1380692">
                  <a:extLst>
                    <a:ext uri="{9D8B030D-6E8A-4147-A177-3AD203B41FA5}">
                      <a16:colId xmlns:a16="http://schemas.microsoft.com/office/drawing/2014/main" val="2783763306"/>
                    </a:ext>
                  </a:extLst>
                </a:gridCol>
                <a:gridCol w="943866">
                  <a:extLst>
                    <a:ext uri="{9D8B030D-6E8A-4147-A177-3AD203B41FA5}">
                      <a16:colId xmlns:a16="http://schemas.microsoft.com/office/drawing/2014/main" val="2078847738"/>
                    </a:ext>
                  </a:extLst>
                </a:gridCol>
                <a:gridCol w="1249728">
                  <a:extLst>
                    <a:ext uri="{9D8B030D-6E8A-4147-A177-3AD203B41FA5}">
                      <a16:colId xmlns:a16="http://schemas.microsoft.com/office/drawing/2014/main" val="3633502244"/>
                    </a:ext>
                  </a:extLst>
                </a:gridCol>
                <a:gridCol w="943866">
                  <a:extLst>
                    <a:ext uri="{9D8B030D-6E8A-4147-A177-3AD203B41FA5}">
                      <a16:colId xmlns:a16="http://schemas.microsoft.com/office/drawing/2014/main" val="3070721705"/>
                    </a:ext>
                  </a:extLst>
                </a:gridCol>
                <a:gridCol w="1258344">
                  <a:extLst>
                    <a:ext uri="{9D8B030D-6E8A-4147-A177-3AD203B41FA5}">
                      <a16:colId xmlns:a16="http://schemas.microsoft.com/office/drawing/2014/main" val="536598921"/>
                    </a:ext>
                  </a:extLst>
                </a:gridCol>
                <a:gridCol w="1038640">
                  <a:extLst>
                    <a:ext uri="{9D8B030D-6E8A-4147-A177-3AD203B41FA5}">
                      <a16:colId xmlns:a16="http://schemas.microsoft.com/office/drawing/2014/main" val="1794984491"/>
                    </a:ext>
                  </a:extLst>
                </a:gridCol>
                <a:gridCol w="1152799">
                  <a:extLst>
                    <a:ext uri="{9D8B030D-6E8A-4147-A177-3AD203B41FA5}">
                      <a16:colId xmlns:a16="http://schemas.microsoft.com/office/drawing/2014/main" val="447859217"/>
                    </a:ext>
                  </a:extLst>
                </a:gridCol>
                <a:gridCol w="933095">
                  <a:extLst>
                    <a:ext uri="{9D8B030D-6E8A-4147-A177-3AD203B41FA5}">
                      <a16:colId xmlns:a16="http://schemas.microsoft.com/office/drawing/2014/main" val="488922302"/>
                    </a:ext>
                  </a:extLst>
                </a:gridCol>
              </a:tblGrid>
              <a:tr h="13446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Parameter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normal(0,10)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normal(0,10)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7206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Intercept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0.12-1.95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0.07-2.23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0.5-1.74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0.47-1.84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69128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year_z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-0.33-0.31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-0.43-0.37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767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GDI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-0.39-1.21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-0.5-1.58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0.02-1.01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0.04-1.09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6865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alcohol.use.disorder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-0.31-0.42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-0.39-0.5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-0.23-0.26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-0.24-0.27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85861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type2.diabetes.mellitus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-0.5-0.24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-0.56-0.29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-0.45-0.17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-0.46-0.18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56010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-0.51-0.1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-0.58-0.1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-0.5-0.05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-0.52-0.06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1509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HIV.AIDS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-0.46-0.72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-0.62-0.83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-0.12-0.29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-0.12-0.34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568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smoking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-0.46-0.77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-0.59-0.9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-0.38-0.67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-0.44-0.71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56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318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BC60FB-907E-26B0-0D5E-E91639C79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67" y="0"/>
            <a:ext cx="10993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28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42907A-01F0-CA2E-6A5A-64AA92A30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95333"/>
              </p:ext>
            </p:extLst>
          </p:nvPr>
        </p:nvGraphicFramePr>
        <p:xfrm>
          <a:off x="643467" y="637953"/>
          <a:ext cx="10905070" cy="5486402"/>
        </p:xfrm>
        <a:graphic>
          <a:graphicData uri="http://schemas.openxmlformats.org/drawingml/2006/table">
            <a:tbl>
              <a:tblPr/>
              <a:tblGrid>
                <a:gridCol w="2004040">
                  <a:extLst>
                    <a:ext uri="{9D8B030D-6E8A-4147-A177-3AD203B41FA5}">
                      <a16:colId xmlns:a16="http://schemas.microsoft.com/office/drawing/2014/main" val="1051125694"/>
                    </a:ext>
                  </a:extLst>
                </a:gridCol>
                <a:gridCol w="1380692">
                  <a:extLst>
                    <a:ext uri="{9D8B030D-6E8A-4147-A177-3AD203B41FA5}">
                      <a16:colId xmlns:a16="http://schemas.microsoft.com/office/drawing/2014/main" val="2783763306"/>
                    </a:ext>
                  </a:extLst>
                </a:gridCol>
                <a:gridCol w="943866">
                  <a:extLst>
                    <a:ext uri="{9D8B030D-6E8A-4147-A177-3AD203B41FA5}">
                      <a16:colId xmlns:a16="http://schemas.microsoft.com/office/drawing/2014/main" val="2078847738"/>
                    </a:ext>
                  </a:extLst>
                </a:gridCol>
                <a:gridCol w="1249728">
                  <a:extLst>
                    <a:ext uri="{9D8B030D-6E8A-4147-A177-3AD203B41FA5}">
                      <a16:colId xmlns:a16="http://schemas.microsoft.com/office/drawing/2014/main" val="3633502244"/>
                    </a:ext>
                  </a:extLst>
                </a:gridCol>
                <a:gridCol w="943866">
                  <a:extLst>
                    <a:ext uri="{9D8B030D-6E8A-4147-A177-3AD203B41FA5}">
                      <a16:colId xmlns:a16="http://schemas.microsoft.com/office/drawing/2014/main" val="3070721705"/>
                    </a:ext>
                  </a:extLst>
                </a:gridCol>
                <a:gridCol w="1258344">
                  <a:extLst>
                    <a:ext uri="{9D8B030D-6E8A-4147-A177-3AD203B41FA5}">
                      <a16:colId xmlns:a16="http://schemas.microsoft.com/office/drawing/2014/main" val="536598921"/>
                    </a:ext>
                  </a:extLst>
                </a:gridCol>
                <a:gridCol w="1038640">
                  <a:extLst>
                    <a:ext uri="{9D8B030D-6E8A-4147-A177-3AD203B41FA5}">
                      <a16:colId xmlns:a16="http://schemas.microsoft.com/office/drawing/2014/main" val="1794984491"/>
                    </a:ext>
                  </a:extLst>
                </a:gridCol>
                <a:gridCol w="1152799">
                  <a:extLst>
                    <a:ext uri="{9D8B030D-6E8A-4147-A177-3AD203B41FA5}">
                      <a16:colId xmlns:a16="http://schemas.microsoft.com/office/drawing/2014/main" val="447859217"/>
                    </a:ext>
                  </a:extLst>
                </a:gridCol>
                <a:gridCol w="933095">
                  <a:extLst>
                    <a:ext uri="{9D8B030D-6E8A-4147-A177-3AD203B41FA5}">
                      <a16:colId xmlns:a16="http://schemas.microsoft.com/office/drawing/2014/main" val="488922302"/>
                    </a:ext>
                  </a:extLst>
                </a:gridCol>
              </a:tblGrid>
              <a:tr h="13446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Parameter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normal(0,10)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normal(0,10)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7206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Intercept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-1.39-2.95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-13.94-15.44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-0.54-2.12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-2.03-4.49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69128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year_z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-0.15-0.19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-0.35-0.44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-0.04-0.08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-0.04-0.09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767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GDI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-1.18-1.15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-5.12-4.61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-0.77-0.49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-0.93-0.73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6865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alcohol.use.disorder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-1.1-1.21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-6.48-5.83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-0.12-0.5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-0.2-0.53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85861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type2.diabetes.mellitus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-1.28-1.18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-7.67-6.84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-0.13-0.19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-0.15-0.2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56010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-1.17-1.02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-5.38-4.7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-0.54-0.53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-0.66-0.6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1509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HIV.AIDS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-1.93-2.04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-16.92-19.15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-1.94-1.53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-5.79-4.14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568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smoking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-0.93-1.07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-4.54-4.42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-0.34-0.62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-0.41-0.7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56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49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B98AC2-7B81-8567-D03B-24F052F8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67" y="0"/>
            <a:ext cx="10993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40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88310E-2DB0-7660-09F6-97777453E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567945"/>
              </p:ext>
            </p:extLst>
          </p:nvPr>
        </p:nvGraphicFramePr>
        <p:xfrm>
          <a:off x="643467" y="637953"/>
          <a:ext cx="10905070" cy="5486402"/>
        </p:xfrm>
        <a:graphic>
          <a:graphicData uri="http://schemas.openxmlformats.org/drawingml/2006/table">
            <a:tbl>
              <a:tblPr/>
              <a:tblGrid>
                <a:gridCol w="2004040">
                  <a:extLst>
                    <a:ext uri="{9D8B030D-6E8A-4147-A177-3AD203B41FA5}">
                      <a16:colId xmlns:a16="http://schemas.microsoft.com/office/drawing/2014/main" val="1051125694"/>
                    </a:ext>
                  </a:extLst>
                </a:gridCol>
                <a:gridCol w="1380692">
                  <a:extLst>
                    <a:ext uri="{9D8B030D-6E8A-4147-A177-3AD203B41FA5}">
                      <a16:colId xmlns:a16="http://schemas.microsoft.com/office/drawing/2014/main" val="2783763306"/>
                    </a:ext>
                  </a:extLst>
                </a:gridCol>
                <a:gridCol w="943866">
                  <a:extLst>
                    <a:ext uri="{9D8B030D-6E8A-4147-A177-3AD203B41FA5}">
                      <a16:colId xmlns:a16="http://schemas.microsoft.com/office/drawing/2014/main" val="2078847738"/>
                    </a:ext>
                  </a:extLst>
                </a:gridCol>
                <a:gridCol w="1249728">
                  <a:extLst>
                    <a:ext uri="{9D8B030D-6E8A-4147-A177-3AD203B41FA5}">
                      <a16:colId xmlns:a16="http://schemas.microsoft.com/office/drawing/2014/main" val="3633502244"/>
                    </a:ext>
                  </a:extLst>
                </a:gridCol>
                <a:gridCol w="943866">
                  <a:extLst>
                    <a:ext uri="{9D8B030D-6E8A-4147-A177-3AD203B41FA5}">
                      <a16:colId xmlns:a16="http://schemas.microsoft.com/office/drawing/2014/main" val="3070721705"/>
                    </a:ext>
                  </a:extLst>
                </a:gridCol>
                <a:gridCol w="1258344">
                  <a:extLst>
                    <a:ext uri="{9D8B030D-6E8A-4147-A177-3AD203B41FA5}">
                      <a16:colId xmlns:a16="http://schemas.microsoft.com/office/drawing/2014/main" val="536598921"/>
                    </a:ext>
                  </a:extLst>
                </a:gridCol>
                <a:gridCol w="1038640">
                  <a:extLst>
                    <a:ext uri="{9D8B030D-6E8A-4147-A177-3AD203B41FA5}">
                      <a16:colId xmlns:a16="http://schemas.microsoft.com/office/drawing/2014/main" val="1794984491"/>
                    </a:ext>
                  </a:extLst>
                </a:gridCol>
                <a:gridCol w="1152799">
                  <a:extLst>
                    <a:ext uri="{9D8B030D-6E8A-4147-A177-3AD203B41FA5}">
                      <a16:colId xmlns:a16="http://schemas.microsoft.com/office/drawing/2014/main" val="447859217"/>
                    </a:ext>
                  </a:extLst>
                </a:gridCol>
                <a:gridCol w="933095">
                  <a:extLst>
                    <a:ext uri="{9D8B030D-6E8A-4147-A177-3AD203B41FA5}">
                      <a16:colId xmlns:a16="http://schemas.microsoft.com/office/drawing/2014/main" val="488922302"/>
                    </a:ext>
                  </a:extLst>
                </a:gridCol>
              </a:tblGrid>
              <a:tr h="13446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Parameter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normal(0,10)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Only national surveys, normal(0,1)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CrI_N1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normal(0,10)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 surveys, normal(0,1)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CrI_80S1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7206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Intercept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-1.31-2.72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-12.15-12.19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-1.19-2.44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-9.43-10.29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69128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year_z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-0.15-0.13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-0.35-0.3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-0.09-0.06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-0.22-0.18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767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GDI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-1.04-1.63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-6.82-7.42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-0.86-1.64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-5.16-6.54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686582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alcohol.use.disorder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-0.55-0.52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-1.81-1.82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-0.49-0.41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-1.52-1.27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85861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type2.diabetes.mellitus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-0.66-0.55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-1.55-1.4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-0.59-0.43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-1.29-1.15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560104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bmi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-1.71-1.44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-8.95-8.68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-1.57-1.4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-7.22-7.58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31509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HIV.AIDS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-1.81-1.97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-18.45-19.91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-1.91-1.98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-15.36-14.89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5689"/>
                  </a:ext>
                </a:extLst>
              </a:tr>
              <a:tr h="5177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smoking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24" marR="12924" marT="1292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-1.1-1.23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-3.8-4.17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-0.83-1.11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-2.68-3.25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56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680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04AE52E-4103-64B8-7420-E5C5D2BDA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88" y="0"/>
            <a:ext cx="11006060" cy="674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552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71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CBF162-E4B7-4D78-91A9-7C08F539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984" y="334426"/>
            <a:ext cx="8700788" cy="6523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F8F20B-C552-F19F-2A33-BEABD879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-200932"/>
            <a:ext cx="10515600" cy="1325563"/>
          </a:xfrm>
        </p:spPr>
        <p:txBody>
          <a:bodyPr/>
          <a:lstStyle/>
          <a:p>
            <a:r>
              <a:rPr lang="en-US" dirty="0"/>
              <a:t>Log(OR) [black] and log(PR) [orange]</a:t>
            </a:r>
          </a:p>
        </p:txBody>
      </p:sp>
    </p:spTree>
    <p:extLst>
      <p:ext uri="{BB962C8B-B14F-4D97-AF65-F5344CB8AC3E}">
        <p14:creationId xmlns:p14="http://schemas.microsoft.com/office/powerpoint/2010/main" val="75768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1098B5-A80A-4ADC-8652-8B678DF2E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59" y="255076"/>
            <a:ext cx="8741325" cy="66029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B88E566-11B8-673F-36F5-0EBD2BEE9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-200932"/>
            <a:ext cx="10515600" cy="1325563"/>
          </a:xfrm>
        </p:spPr>
        <p:txBody>
          <a:bodyPr/>
          <a:lstStyle/>
          <a:p>
            <a:r>
              <a:rPr lang="en-US" dirty="0"/>
              <a:t>Log(OR)_se [black] and log(PR)_se [orange]</a:t>
            </a:r>
          </a:p>
        </p:txBody>
      </p:sp>
    </p:spTree>
    <p:extLst>
      <p:ext uri="{BB962C8B-B14F-4D97-AF65-F5344CB8AC3E}">
        <p14:creationId xmlns:p14="http://schemas.microsoft.com/office/powerpoint/2010/main" val="2919548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4109E4-1AFC-F643-1C82-1EA4B9778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25" y="287918"/>
            <a:ext cx="8697848" cy="65700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1889FDF-C1BE-059E-75ED-C5C3CFA79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-200932"/>
            <a:ext cx="10515600" cy="1325563"/>
          </a:xfrm>
        </p:spPr>
        <p:txBody>
          <a:bodyPr/>
          <a:lstStyle/>
          <a:p>
            <a:r>
              <a:rPr lang="en-US" dirty="0"/>
              <a:t>Log(OR)_se [black] and log(PR)_se [orange]</a:t>
            </a:r>
          </a:p>
        </p:txBody>
      </p:sp>
    </p:spTree>
    <p:extLst>
      <p:ext uri="{BB962C8B-B14F-4D97-AF65-F5344CB8AC3E}">
        <p14:creationId xmlns:p14="http://schemas.microsoft.com/office/powerpoint/2010/main" val="3706586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C874-BAA2-E59A-5F87-6DF7690D7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M:F ratio main estimate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210A-7D94-E07C-7408-C73243600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18" y="1511727"/>
            <a:ext cx="8646992" cy="4351338"/>
          </a:xfrm>
        </p:spPr>
        <p:txBody>
          <a:bodyPr/>
          <a:lstStyle/>
          <a:p>
            <a:r>
              <a:rPr lang="en-US" dirty="0"/>
              <a:t>Previously reported</a:t>
            </a:r>
            <a:br>
              <a:rPr lang="en-US" dirty="0"/>
            </a:br>
            <a:r>
              <a:rPr lang="en-US" b="1" dirty="0"/>
              <a:t>2.23 </a:t>
            </a:r>
          </a:p>
          <a:p>
            <a:r>
              <a:rPr lang="en-US" dirty="0"/>
              <a:t>Using updated log(OR)_</a:t>
            </a:r>
            <a:r>
              <a:rPr lang="en-US"/>
              <a:t>se </a:t>
            </a:r>
            <a:br>
              <a:rPr lang="en-US"/>
            </a:br>
            <a:r>
              <a:rPr lang="en-US"/>
              <a:t>2.02 </a:t>
            </a:r>
            <a:r>
              <a:rPr lang="en-US" dirty="0"/>
              <a:t>(1.72-2.36)</a:t>
            </a:r>
          </a:p>
          <a:p>
            <a:r>
              <a:rPr lang="en-US" dirty="0"/>
              <a:t>Using log(PR)  </a:t>
            </a:r>
            <a:br>
              <a:rPr lang="en-US" dirty="0"/>
            </a:br>
            <a:r>
              <a:rPr lang="en-US" dirty="0"/>
              <a:t>2.04 (1.74-2.36)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 descr="A group of blue graphs&#10;&#10;AI-generated content may be incorrect.">
            <a:extLst>
              <a:ext uri="{FF2B5EF4-FFF2-40B4-BE49-F238E27FC236}">
                <a16:creationId xmlns:a16="http://schemas.microsoft.com/office/drawing/2014/main" id="{743F2193-5ADF-E7FC-A9D4-7A302E31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36" y="1267730"/>
            <a:ext cx="7770125" cy="55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04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blue graphs&#10;&#10;AI-generated content may be incorrect.">
            <a:extLst>
              <a:ext uri="{FF2B5EF4-FFF2-40B4-BE49-F238E27FC236}">
                <a16:creationId xmlns:a16="http://schemas.microsoft.com/office/drawing/2014/main" id="{CE6B0349-C162-A3C6-5EBD-21BA51CA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314" y="0"/>
            <a:ext cx="9530686" cy="6856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797C37-BF58-C78D-2A93-20BEA72CD732}"/>
              </a:ext>
            </a:extLst>
          </p:cNvPr>
          <p:cNvSpPr txBox="1"/>
          <p:nvPr/>
        </p:nvSpPr>
        <p:spPr>
          <a:xfrm>
            <a:off x="245659" y="559558"/>
            <a:ext cx="2224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ESS for model </a:t>
            </a:r>
            <a:br>
              <a:rPr lang="en-US" dirty="0"/>
            </a:br>
            <a:r>
              <a:rPr lang="en-US" dirty="0"/>
              <a:t>hyperparameter </a:t>
            </a:r>
            <a:br>
              <a:rPr lang="en-US" dirty="0"/>
            </a:br>
            <a:r>
              <a:rPr lang="en-US" dirty="0" err="1"/>
              <a:t>sd</a:t>
            </a:r>
            <a:r>
              <a:rPr lang="en-US" dirty="0"/>
              <a:t>(Intercept) ~ ID </a:t>
            </a:r>
          </a:p>
          <a:p>
            <a:endParaRPr lang="en-US" dirty="0"/>
          </a:p>
          <a:p>
            <a:r>
              <a:rPr lang="en-US" dirty="0"/>
              <a:t>And residual variance parameter, sigma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C5D48-BF7A-BE6B-ADE3-DCA2D864DF0E}"/>
              </a:ext>
            </a:extLst>
          </p:cNvPr>
          <p:cNvSpPr txBox="1"/>
          <p:nvPr/>
        </p:nvSpPr>
        <p:spPr>
          <a:xfrm>
            <a:off x="245660" y="4683457"/>
            <a:ext cx="2224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 of exponential(1) gives best ESS, but have tried quite a few </a:t>
            </a:r>
            <a:br>
              <a:rPr lang="en-US" dirty="0"/>
            </a:br>
            <a:r>
              <a:rPr lang="en-US" dirty="0"/>
              <a:t>half-normal(0,1) </a:t>
            </a:r>
          </a:p>
          <a:p>
            <a:r>
              <a:rPr lang="en-US" dirty="0"/>
              <a:t>half-normal(0,5)</a:t>
            </a:r>
            <a:br>
              <a:rPr lang="en-US" dirty="0"/>
            </a:br>
            <a:r>
              <a:rPr lang="en-US" dirty="0"/>
              <a:t>half-t(4,0,1)…</a:t>
            </a:r>
          </a:p>
        </p:txBody>
      </p:sp>
    </p:spTree>
    <p:extLst>
      <p:ext uri="{BB962C8B-B14F-4D97-AF65-F5344CB8AC3E}">
        <p14:creationId xmlns:p14="http://schemas.microsoft.com/office/powerpoint/2010/main" val="2552093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4560-2EF9-C32A-199B-80AB9C2A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M:F ratio by world region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235A65-466D-BFAC-230E-6981FADE3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48043"/>
              </p:ext>
            </p:extLst>
          </p:nvPr>
        </p:nvGraphicFramePr>
        <p:xfrm>
          <a:off x="838199" y="1487606"/>
          <a:ext cx="10666863" cy="51175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55621">
                  <a:extLst>
                    <a:ext uri="{9D8B030D-6E8A-4147-A177-3AD203B41FA5}">
                      <a16:colId xmlns:a16="http://schemas.microsoft.com/office/drawing/2014/main" val="4009745450"/>
                    </a:ext>
                  </a:extLst>
                </a:gridCol>
                <a:gridCol w="3555621">
                  <a:extLst>
                    <a:ext uri="{9D8B030D-6E8A-4147-A177-3AD203B41FA5}">
                      <a16:colId xmlns:a16="http://schemas.microsoft.com/office/drawing/2014/main" val="1157047426"/>
                    </a:ext>
                  </a:extLst>
                </a:gridCol>
                <a:gridCol w="3555621">
                  <a:extLst>
                    <a:ext uri="{9D8B030D-6E8A-4147-A177-3AD203B41FA5}">
                      <a16:colId xmlns:a16="http://schemas.microsoft.com/office/drawing/2014/main" val="380639777"/>
                    </a:ext>
                  </a:extLst>
                </a:gridCol>
              </a:tblGrid>
              <a:tr h="106370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 dirty="0">
                          <a:effectLst/>
                        </a:rPr>
                        <a:t>WHO region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</a:rPr>
                        <a:t>new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 dirty="0">
                          <a:effectLst/>
                        </a:rPr>
                        <a:t>Old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56065869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Africa </a:t>
                      </a:r>
                      <a:endParaRPr lang="en-US" sz="2000" kern="10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(N</a:t>
                      </a:r>
                      <a:r>
                        <a:rPr lang="en-AU" sz="2000" kern="100" baseline="-25000">
                          <a:effectLst/>
                        </a:rPr>
                        <a:t>BC</a:t>
                      </a:r>
                      <a:r>
                        <a:rPr lang="en-AU" sz="2000" kern="100">
                          <a:effectLst/>
                        </a:rPr>
                        <a:t>=38; N</a:t>
                      </a:r>
                      <a:r>
                        <a:rPr lang="en-AU" sz="2000" kern="100" baseline="-25000">
                          <a:effectLst/>
                        </a:rPr>
                        <a:t>SP</a:t>
                      </a:r>
                      <a:r>
                        <a:rPr lang="en-AU" sz="2000" kern="100">
                          <a:effectLst/>
                        </a:rPr>
                        <a:t>=22)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</a:rPr>
                        <a:t>1.58 (1.36-1.81)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 dirty="0">
                          <a:effectLst/>
                        </a:rPr>
                        <a:t>1.84 (1.61–2.10)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25194692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Americas </a:t>
                      </a:r>
                      <a:endParaRPr lang="en-US" sz="2000" kern="10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(N</a:t>
                      </a:r>
                      <a:r>
                        <a:rPr lang="en-AU" sz="2000" kern="100" baseline="-25000">
                          <a:effectLst/>
                        </a:rPr>
                        <a:t>BC</a:t>
                      </a:r>
                      <a:r>
                        <a:rPr lang="en-AU" sz="2000" kern="100">
                          <a:effectLst/>
                        </a:rPr>
                        <a:t>=2; N</a:t>
                      </a:r>
                      <a:r>
                        <a:rPr lang="en-AU" sz="2000" kern="100" baseline="-25000">
                          <a:effectLst/>
                        </a:rPr>
                        <a:t>SP</a:t>
                      </a:r>
                      <a:r>
                        <a:rPr lang="en-AU" sz="2000" kern="100">
                          <a:effectLst/>
                        </a:rPr>
                        <a:t>=2)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</a:rPr>
                        <a:t>1.13 (0.49-2.06)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 dirty="0">
                          <a:effectLst/>
                        </a:rPr>
                        <a:t>2.36 (0.79–5.21)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95540662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Eastern Mediterranean </a:t>
                      </a:r>
                      <a:endParaRPr lang="en-US" sz="2000" kern="10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(N</a:t>
                      </a:r>
                      <a:r>
                        <a:rPr lang="en-AU" sz="2000" kern="100" baseline="-25000">
                          <a:effectLst/>
                        </a:rPr>
                        <a:t>BC</a:t>
                      </a:r>
                      <a:r>
                        <a:rPr lang="en-AU" sz="2000" kern="100">
                          <a:effectLst/>
                        </a:rPr>
                        <a:t>=4; N</a:t>
                      </a:r>
                      <a:r>
                        <a:rPr lang="en-AU" sz="2000" kern="100" baseline="-25000">
                          <a:effectLst/>
                        </a:rPr>
                        <a:t>SP</a:t>
                      </a:r>
                      <a:r>
                        <a:rPr lang="en-AU" sz="2000" kern="100">
                          <a:effectLst/>
                        </a:rPr>
                        <a:t>=3)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</a:rPr>
                        <a:t>1.66 (1.04-2.49)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 dirty="0">
                          <a:effectLst/>
                        </a:rPr>
                        <a:t>1.76 (1.17–2.49)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20766210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South-East Asia</a:t>
                      </a:r>
                      <a:endParaRPr lang="en-US" sz="2000" kern="10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(N</a:t>
                      </a:r>
                      <a:r>
                        <a:rPr lang="en-AU" sz="2000" kern="100" baseline="-25000">
                          <a:effectLst/>
                        </a:rPr>
                        <a:t>BC</a:t>
                      </a:r>
                      <a:r>
                        <a:rPr lang="en-AU" sz="2000" kern="100">
                          <a:effectLst/>
                        </a:rPr>
                        <a:t>=40; N</a:t>
                      </a:r>
                      <a:r>
                        <a:rPr lang="en-AU" sz="2000" kern="100" baseline="-25000">
                          <a:effectLst/>
                        </a:rPr>
                        <a:t>SP</a:t>
                      </a:r>
                      <a:r>
                        <a:rPr lang="en-AU" sz="2000" kern="100">
                          <a:effectLst/>
                        </a:rPr>
                        <a:t>=24)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</a:rPr>
                        <a:t>3.20 (2.79-3.64)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 dirty="0">
                          <a:effectLst/>
                        </a:rPr>
                        <a:t>2.91 (2.51–3.33)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51546502"/>
                  </a:ext>
                </a:extLst>
              </a:tr>
              <a:tr h="76443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Western Pacific</a:t>
                      </a:r>
                      <a:endParaRPr lang="en-US" sz="2000" kern="100">
                        <a:effectLst/>
                      </a:endParaRPr>
                    </a:p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>
                          <a:effectLst/>
                        </a:rPr>
                        <a:t>(N</a:t>
                      </a:r>
                      <a:r>
                        <a:rPr lang="en-AU" sz="2000" kern="100" baseline="-25000">
                          <a:effectLst/>
                        </a:rPr>
                        <a:t>BC</a:t>
                      </a:r>
                      <a:r>
                        <a:rPr lang="en-AU" sz="2000" kern="100">
                          <a:effectLst/>
                        </a:rPr>
                        <a:t>=18; N</a:t>
                      </a:r>
                      <a:r>
                        <a:rPr lang="en-AU" sz="2000" kern="100" baseline="-25000">
                          <a:effectLst/>
                        </a:rPr>
                        <a:t>SP</a:t>
                      </a:r>
                      <a:r>
                        <a:rPr lang="en-AU" sz="2000" kern="100">
                          <a:effectLst/>
                        </a:rPr>
                        <a:t>=13)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</a:rPr>
                        <a:t>2.42 (1.99-2.90)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buNone/>
                      </a:pPr>
                      <a:r>
                        <a:rPr lang="en-AU" sz="2000" kern="100" dirty="0">
                          <a:effectLst/>
                        </a:rPr>
                        <a:t>2.57 (2.16–3.02)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42981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559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852E7F-FABA-6BCF-62E5-E698106B9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99" y="-1"/>
            <a:ext cx="5895213" cy="762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62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37159A-6902-22AC-A9A6-BBCA5BADC9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536"/>
          <a:stretch>
            <a:fillRect/>
          </a:stretch>
        </p:blipFill>
        <p:spPr>
          <a:xfrm>
            <a:off x="1919668" y="262394"/>
            <a:ext cx="8576536" cy="671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59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DBB3D0-4545-1031-3C3D-F14AB0230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 b="41525"/>
          <a:stretch>
            <a:fillRect/>
          </a:stretch>
        </p:blipFill>
        <p:spPr>
          <a:xfrm>
            <a:off x="1195736" y="896509"/>
            <a:ext cx="8568770" cy="602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26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B6039F-864D-328F-CAE2-12105A53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22" b="42841"/>
          <a:stretch>
            <a:fillRect/>
          </a:stretch>
        </p:blipFill>
        <p:spPr>
          <a:xfrm>
            <a:off x="885998" y="333954"/>
            <a:ext cx="9349760" cy="636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90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30AE22-B316-158A-3C07-9648E057B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22" b="41333"/>
          <a:stretch>
            <a:fillRect/>
          </a:stretch>
        </p:blipFill>
        <p:spPr>
          <a:xfrm>
            <a:off x="1156518" y="492980"/>
            <a:ext cx="8885227" cy="622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2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3953</TotalTime>
  <Words>1276</Words>
  <Application>Microsoft Macintosh PowerPoint</Application>
  <PresentationFormat>Widescreen</PresentationFormat>
  <Paragraphs>451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Aptos Narrow</vt:lpstr>
      <vt:lpstr>Arial</vt:lpstr>
      <vt:lpstr>Office Theme</vt:lpstr>
      <vt:lpstr>Multi-variable covariate model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Log(OR) [black] and log(PR) [orange]</vt:lpstr>
      <vt:lpstr>Log(OR)_se [black] and log(PR)_se [orange]</vt:lpstr>
      <vt:lpstr>Log(OR)_se [black] and log(PR)_se [orange]</vt:lpstr>
      <vt:lpstr>M:F ratio main estimate</vt:lpstr>
      <vt:lpstr>PowerPoint Presentation</vt:lpstr>
      <vt:lpstr>M:F ratio by world region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Swartwood, Nicole Anne</dc:creator>
  <cp:lastModifiedBy>Swartwood, Nicole Anne</cp:lastModifiedBy>
  <cp:revision>3</cp:revision>
  <dcterms:created xsi:type="dcterms:W3CDTF">2026-02-24T23:33:44Z</dcterms:created>
  <dcterms:modified xsi:type="dcterms:W3CDTF">2026-03-04T19:35:20Z</dcterms:modified>
</cp:coreProperties>
</file>